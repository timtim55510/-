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4630400" cy="8229600"/>
  <p:notesSz cx="8229600" cy="14630400"/>
  <p:embeddedFontLst>
    <p:embeddedFont>
      <p:font typeface="Amasis MT Pro Black" panose="02040A04050005020304" pitchFamily="18" charset="0"/>
      <p:bold r:id="rId13"/>
      <p:boldItalic r:id="rId14"/>
    </p:embeddedFont>
    <p:embeddedFont>
      <p:font typeface="Aptos Black" panose="020B0004020202020204" pitchFamily="34" charset="0"/>
      <p:bold r:id="rId15"/>
      <p:boldItalic r:id="rId16"/>
    </p:embeddedFont>
    <p:embeddedFont>
      <p:font typeface="Montserrat Black" panose="00000A00000000000000" pitchFamily="2" charset="0"/>
      <p:regular r:id="rId17"/>
      <p:bold r:id="rId18"/>
      <p:boldItalic r:id="rId19"/>
    </p:embeddedFont>
    <p:embeddedFont>
      <p:font typeface="Segoe UI Black" panose="020B0A02040204020203" pitchFamily="34" charset="0"/>
      <p:bold r:id="rId20"/>
      <p:boldItalic r:id="rId21"/>
    </p:embeddedFont>
    <p:embeddedFont>
      <p:font typeface="Walbaum Display Heavy" panose="02070A03090703020303" pitchFamily="18" charset="0"/>
      <p:bold r:id="rId22"/>
      <p:boldItalic r:id="rId23"/>
    </p:embeddedFont>
    <p:embeddedFont>
      <p:font typeface="微軟正黑體" panose="020B0604030504040204" pitchFamily="34" charset="-120"/>
      <p:regular r:id="rId24"/>
      <p:bold r:id="rId25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2E75B6"/>
    <a:srgbClr val="829C89"/>
    <a:srgbClr val="E6B684"/>
    <a:srgbClr val="FEFE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93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0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453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49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63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7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09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5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20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45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92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82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70338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17" name="圖形 16">
            <a:extLst>
              <a:ext uri="{FF2B5EF4-FFF2-40B4-BE49-F238E27FC236}">
                <a16:creationId xmlns:a16="http://schemas.microsoft.com/office/drawing/2014/main" id="{337B1962-5FB2-3FEB-74E3-AD4A079D6C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31412" y="7500401"/>
            <a:ext cx="628650" cy="6286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sv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sv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8.sv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sv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左大括弧 4">
            <a:extLst>
              <a:ext uri="{FF2B5EF4-FFF2-40B4-BE49-F238E27FC236}">
                <a16:creationId xmlns:a16="http://schemas.microsoft.com/office/drawing/2014/main" id="{5178142F-C5AB-F1FB-C0C2-BC17E4BA2857}"/>
              </a:ext>
            </a:extLst>
          </p:cNvPr>
          <p:cNvSpPr/>
          <p:nvPr/>
        </p:nvSpPr>
        <p:spPr>
          <a:xfrm rot="6029853">
            <a:off x="11081495" y="1828953"/>
            <a:ext cx="6886826" cy="8238106"/>
          </a:xfrm>
          <a:prstGeom prst="leftBrace">
            <a:avLst>
              <a:gd name="adj1" fmla="val 45047"/>
              <a:gd name="adj2" fmla="val 5234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sp>
        <p:nvSpPr>
          <p:cNvPr id="6" name="左大括弧 5">
            <a:extLst>
              <a:ext uri="{FF2B5EF4-FFF2-40B4-BE49-F238E27FC236}">
                <a16:creationId xmlns:a16="http://schemas.microsoft.com/office/drawing/2014/main" id="{C7AEEA80-AC07-9D36-732D-9F863248A951}"/>
              </a:ext>
            </a:extLst>
          </p:cNvPr>
          <p:cNvSpPr/>
          <p:nvPr/>
        </p:nvSpPr>
        <p:spPr>
          <a:xfrm rot="15923308">
            <a:off x="-3910357" y="-1241926"/>
            <a:ext cx="7306496" cy="8821743"/>
          </a:xfrm>
          <a:prstGeom prst="leftBrace">
            <a:avLst>
              <a:gd name="adj1" fmla="val 45047"/>
              <a:gd name="adj2" fmla="val 49738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8" name="Google Shape;89;p13">
            <a:extLst>
              <a:ext uri="{FF2B5EF4-FFF2-40B4-BE49-F238E27FC236}">
                <a16:creationId xmlns:a16="http://schemas.microsoft.com/office/drawing/2014/main" id="{87CE749E-11A5-6601-2B9D-E5E8343913D6}"/>
              </a:ext>
            </a:extLst>
          </p:cNvPr>
          <p:cNvSpPr txBox="1"/>
          <p:nvPr/>
        </p:nvSpPr>
        <p:spPr>
          <a:xfrm>
            <a:off x="1514123" y="2053518"/>
            <a:ext cx="11226721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1"/>
              </a:lnSpc>
            </a:pPr>
            <a:r>
              <a:rPr lang="en-US" altLang="zh-TW" sz="7200" b="1" dirty="0" err="1">
                <a:solidFill>
                  <a:schemeClr val="accent5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計算機理論課程</a:t>
            </a:r>
            <a:endParaRPr lang="en-US" altLang="zh-TW" sz="7200" b="1" dirty="0">
              <a:solidFill>
                <a:schemeClr val="accent5">
                  <a:lumMod val="75000"/>
                </a:schemeClr>
              </a:solidFill>
              <a:latin typeface="Walbaum Display Heavy" panose="020F0502020204030204" pitchFamily="18" charset="0"/>
              <a:ea typeface="微軟正黑體" panose="020B0604030504040204" pitchFamily="34" charset="-120"/>
              <a:cs typeface="Montserrat Black" pitchFamily="34" charset="-120"/>
            </a:endParaRPr>
          </a:p>
          <a:p>
            <a:pPr algn="ctr">
              <a:lnSpc>
                <a:spcPct val="120001"/>
              </a:lnSpc>
            </a:pPr>
            <a:r>
              <a:rPr lang="en-US" altLang="zh-TW" sz="7200" b="1" dirty="0" err="1">
                <a:solidFill>
                  <a:schemeClr val="accent5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融入遊戲式學習之系統開發</a:t>
            </a:r>
            <a:r>
              <a:rPr lang="en-US" sz="7200" b="0" i="0" u="none" strike="noStrike" cap="none" dirty="0">
                <a:solidFill>
                  <a:schemeClr val="accent5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Black Ops One"/>
                <a:sym typeface="Black Ops One"/>
              </a:rPr>
              <a:t>  </a:t>
            </a:r>
            <a:endParaRPr sz="7200" dirty="0">
              <a:solidFill>
                <a:schemeClr val="accent5">
                  <a:lumMod val="75000"/>
                </a:schemeClr>
              </a:solidFill>
              <a:latin typeface="Walbaum Display Heavy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9" name="Google Shape;90;p13">
            <a:extLst>
              <a:ext uri="{FF2B5EF4-FFF2-40B4-BE49-F238E27FC236}">
                <a16:creationId xmlns:a16="http://schemas.microsoft.com/office/drawing/2014/main" id="{9532DF54-EA58-0F27-4799-8F6931AD9EC2}"/>
              </a:ext>
            </a:extLst>
          </p:cNvPr>
          <p:cNvSpPr/>
          <p:nvPr/>
        </p:nvSpPr>
        <p:spPr>
          <a:xfrm rot="7845160">
            <a:off x="12597763" y="4438544"/>
            <a:ext cx="895883" cy="921903"/>
          </a:xfrm>
          <a:custGeom>
            <a:avLst/>
            <a:gdLst/>
            <a:ahLst/>
            <a:cxnLst/>
            <a:rect l="l" t="t" r="r" b="b"/>
            <a:pathLst>
              <a:path w="1031726" h="1106139" extrusionOk="0">
                <a:moveTo>
                  <a:pt x="0" y="0"/>
                </a:moveTo>
                <a:lnTo>
                  <a:pt x="1031726" y="0"/>
                </a:lnTo>
                <a:lnTo>
                  <a:pt x="1031726" y="1106139"/>
                </a:lnTo>
                <a:lnTo>
                  <a:pt x="0" y="1106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ea typeface="微軟正黑體" panose="020B0604030504040204" pitchFamily="34" charset="-120"/>
            </a:endParaRPr>
          </a:p>
        </p:txBody>
      </p:sp>
      <p:grpSp>
        <p:nvGrpSpPr>
          <p:cNvPr id="10" name="Google Shape;91;p13">
            <a:extLst>
              <a:ext uri="{FF2B5EF4-FFF2-40B4-BE49-F238E27FC236}">
                <a16:creationId xmlns:a16="http://schemas.microsoft.com/office/drawing/2014/main" id="{A5DA9DE4-A70F-68B3-C3DE-0CAA744C5AF2}"/>
              </a:ext>
            </a:extLst>
          </p:cNvPr>
          <p:cNvGrpSpPr/>
          <p:nvPr/>
        </p:nvGrpSpPr>
        <p:grpSpPr>
          <a:xfrm>
            <a:off x="11463170" y="6665109"/>
            <a:ext cx="2524954" cy="1134985"/>
            <a:chOff x="-48624" y="-187068"/>
            <a:chExt cx="4039398" cy="1742776"/>
          </a:xfrm>
        </p:grpSpPr>
        <p:grpSp>
          <p:nvGrpSpPr>
            <p:cNvPr id="11" name="Google Shape;92;p13">
              <a:extLst>
                <a:ext uri="{FF2B5EF4-FFF2-40B4-BE49-F238E27FC236}">
                  <a16:creationId xmlns:a16="http://schemas.microsoft.com/office/drawing/2014/main" id="{3D234B26-568C-8432-AE29-722D45653575}"/>
                </a:ext>
              </a:extLst>
            </p:cNvPr>
            <p:cNvGrpSpPr/>
            <p:nvPr/>
          </p:nvGrpSpPr>
          <p:grpSpPr>
            <a:xfrm>
              <a:off x="0" y="-154747"/>
              <a:ext cx="3990774" cy="1710455"/>
              <a:chOff x="0" y="-95250"/>
              <a:chExt cx="1015997" cy="435458"/>
            </a:xfrm>
          </p:grpSpPr>
          <p:sp>
            <p:nvSpPr>
              <p:cNvPr id="15" name="Google Shape;93;p13">
                <a:extLst>
                  <a:ext uri="{FF2B5EF4-FFF2-40B4-BE49-F238E27FC236}">
                    <a16:creationId xmlns:a16="http://schemas.microsoft.com/office/drawing/2014/main" id="{B4F39525-C9D0-D935-49A0-D93FFFEF52B4}"/>
                  </a:ext>
                </a:extLst>
              </p:cNvPr>
              <p:cNvSpPr/>
              <p:nvPr/>
            </p:nvSpPr>
            <p:spPr>
              <a:xfrm>
                <a:off x="0" y="0"/>
                <a:ext cx="1015997" cy="340208"/>
              </a:xfrm>
              <a:custGeom>
                <a:avLst/>
                <a:gdLst/>
                <a:ahLst/>
                <a:cxnLst/>
                <a:rect l="l" t="t" r="r" b="b"/>
                <a:pathLst>
                  <a:path w="1015997" h="340208" extrusionOk="0">
                    <a:moveTo>
                      <a:pt x="812797" y="0"/>
                    </a:moveTo>
                    <a:cubicBezTo>
                      <a:pt x="925021" y="0"/>
                      <a:pt x="1015997" y="76158"/>
                      <a:pt x="1015997" y="170104"/>
                    </a:cubicBezTo>
                    <a:cubicBezTo>
                      <a:pt x="1015997" y="264050"/>
                      <a:pt x="925021" y="340208"/>
                      <a:pt x="812797" y="340208"/>
                    </a:cubicBezTo>
                    <a:lnTo>
                      <a:pt x="203200" y="340208"/>
                    </a:lnTo>
                    <a:cubicBezTo>
                      <a:pt x="90976" y="340208"/>
                      <a:pt x="0" y="264050"/>
                      <a:pt x="0" y="170104"/>
                    </a:cubicBezTo>
                    <a:cubicBezTo>
                      <a:pt x="0" y="7615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C00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6" name="Google Shape;94;p13">
                <a:extLst>
                  <a:ext uri="{FF2B5EF4-FFF2-40B4-BE49-F238E27FC236}">
                    <a16:creationId xmlns:a16="http://schemas.microsoft.com/office/drawing/2014/main" id="{D6E5294E-1ECC-6312-55BB-4F09CB156F39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1015997" cy="43545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8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/>
                  <a:sym typeface="Calibri"/>
                </a:endParaRPr>
              </a:p>
            </p:txBody>
          </p:sp>
        </p:grpSp>
        <p:grpSp>
          <p:nvGrpSpPr>
            <p:cNvPr id="12" name="Google Shape;95;p13">
              <a:extLst>
                <a:ext uri="{FF2B5EF4-FFF2-40B4-BE49-F238E27FC236}">
                  <a16:creationId xmlns:a16="http://schemas.microsoft.com/office/drawing/2014/main" id="{9E5320CA-EBD8-51A5-07AC-E8962BEC225F}"/>
                </a:ext>
              </a:extLst>
            </p:cNvPr>
            <p:cNvGrpSpPr/>
            <p:nvPr/>
          </p:nvGrpSpPr>
          <p:grpSpPr>
            <a:xfrm>
              <a:off x="-48624" y="-187068"/>
              <a:ext cx="4039398" cy="1710455"/>
              <a:chOff x="-12379" y="-47625"/>
              <a:chExt cx="1028376" cy="435458"/>
            </a:xfrm>
          </p:grpSpPr>
          <p:sp>
            <p:nvSpPr>
              <p:cNvPr id="13" name="Google Shape;96;p13">
                <a:extLst>
                  <a:ext uri="{FF2B5EF4-FFF2-40B4-BE49-F238E27FC236}">
                    <a16:creationId xmlns:a16="http://schemas.microsoft.com/office/drawing/2014/main" id="{8F185444-DDC8-AC5D-B613-06ED56251B36}"/>
                  </a:ext>
                </a:extLst>
              </p:cNvPr>
              <p:cNvSpPr/>
              <p:nvPr/>
            </p:nvSpPr>
            <p:spPr>
              <a:xfrm>
                <a:off x="0" y="0"/>
                <a:ext cx="1015997" cy="340208"/>
              </a:xfrm>
              <a:custGeom>
                <a:avLst/>
                <a:gdLst/>
                <a:ahLst/>
                <a:cxnLst/>
                <a:rect l="l" t="t" r="r" b="b"/>
                <a:pathLst>
                  <a:path w="1015997" h="340208" extrusionOk="0">
                    <a:moveTo>
                      <a:pt x="812797" y="0"/>
                    </a:moveTo>
                    <a:cubicBezTo>
                      <a:pt x="925021" y="0"/>
                      <a:pt x="1015997" y="76158"/>
                      <a:pt x="1015997" y="170104"/>
                    </a:cubicBezTo>
                    <a:cubicBezTo>
                      <a:pt x="1015997" y="264050"/>
                      <a:pt x="925021" y="340208"/>
                      <a:pt x="812797" y="340208"/>
                    </a:cubicBezTo>
                    <a:lnTo>
                      <a:pt x="203200" y="340208"/>
                    </a:lnTo>
                    <a:cubicBezTo>
                      <a:pt x="90976" y="340208"/>
                      <a:pt x="0" y="264050"/>
                      <a:pt x="0" y="170104"/>
                    </a:cubicBezTo>
                    <a:cubicBezTo>
                      <a:pt x="0" y="7615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47625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4" name="Google Shape;97;p13">
                <a:extLst>
                  <a:ext uri="{FF2B5EF4-FFF2-40B4-BE49-F238E27FC236}">
                    <a16:creationId xmlns:a16="http://schemas.microsoft.com/office/drawing/2014/main" id="{548A439E-74E2-44C7-9BB7-F01C2AA25952}"/>
                  </a:ext>
                </a:extLst>
              </p:cNvPr>
              <p:cNvSpPr txBox="1"/>
              <p:nvPr/>
            </p:nvSpPr>
            <p:spPr>
              <a:xfrm>
                <a:off x="-12379" y="-47625"/>
                <a:ext cx="1015997" cy="435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 b="0" i="0" u="none" strike="noStrike" cap="none" dirty="0">
                    <a:solidFill>
                      <a:srgbClr val="0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rPr>
                  <a:t>START</a:t>
                </a:r>
                <a:endParaRPr dirty="0"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17" name="Google Shape;98;p13">
            <a:extLst>
              <a:ext uri="{FF2B5EF4-FFF2-40B4-BE49-F238E27FC236}">
                <a16:creationId xmlns:a16="http://schemas.microsoft.com/office/drawing/2014/main" id="{86F0FB3E-60F3-2E9E-706C-D6B4A6B98FBC}"/>
              </a:ext>
            </a:extLst>
          </p:cNvPr>
          <p:cNvSpPr txBox="1"/>
          <p:nvPr/>
        </p:nvSpPr>
        <p:spPr>
          <a:xfrm>
            <a:off x="4192071" y="5174180"/>
            <a:ext cx="5870823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600" i="0" u="none" strike="noStrike" cap="none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labo 27px"/>
                <a:sym typeface="Slabo 27px"/>
              </a:rPr>
              <a:t>指導教授 楊弘章</a:t>
            </a:r>
            <a:endParaRPr lang="en-US" altLang="zh-TW" sz="3600" i="0" u="none" strike="noStrike" cap="none" dirty="0">
              <a:solidFill>
                <a:schemeClr val="bg2">
                  <a:lumMod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labo 27px"/>
              <a:sym typeface="Slabo 27px"/>
            </a:endParaRPr>
          </a:p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600" i="0" u="none" strike="noStrike" cap="none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labo 27px"/>
                <a:sym typeface="Slabo 27px"/>
              </a:rPr>
              <a:t>組員 林品豪 黃柏庭</a:t>
            </a:r>
          </a:p>
        </p:txBody>
      </p:sp>
      <p:sp>
        <p:nvSpPr>
          <p:cNvPr id="18" name="Google Shape;101;p13">
            <a:extLst>
              <a:ext uri="{FF2B5EF4-FFF2-40B4-BE49-F238E27FC236}">
                <a16:creationId xmlns:a16="http://schemas.microsoft.com/office/drawing/2014/main" id="{D435850C-516B-901D-9075-DFE1C78CCC9D}"/>
              </a:ext>
            </a:extLst>
          </p:cNvPr>
          <p:cNvSpPr/>
          <p:nvPr/>
        </p:nvSpPr>
        <p:spPr>
          <a:xfrm rot="19054916">
            <a:off x="2940656" y="1043178"/>
            <a:ext cx="1275108" cy="1312142"/>
          </a:xfrm>
          <a:custGeom>
            <a:avLst/>
            <a:gdLst/>
            <a:ahLst/>
            <a:cxnLst/>
            <a:rect l="l" t="t" r="r" b="b"/>
            <a:pathLst>
              <a:path w="1468452" h="1574364" extrusionOk="0">
                <a:moveTo>
                  <a:pt x="0" y="0"/>
                </a:moveTo>
                <a:lnTo>
                  <a:pt x="1468453" y="0"/>
                </a:lnTo>
                <a:lnTo>
                  <a:pt x="1468453" y="1574364"/>
                </a:lnTo>
                <a:lnTo>
                  <a:pt x="0" y="15743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19" name="Google Shape;102;p13">
            <a:extLst>
              <a:ext uri="{FF2B5EF4-FFF2-40B4-BE49-F238E27FC236}">
                <a16:creationId xmlns:a16="http://schemas.microsoft.com/office/drawing/2014/main" id="{960951E7-F0C2-D7D6-E0D0-A70BB849F952}"/>
              </a:ext>
            </a:extLst>
          </p:cNvPr>
          <p:cNvSpPr/>
          <p:nvPr/>
        </p:nvSpPr>
        <p:spPr>
          <a:xfrm rot="20372496">
            <a:off x="12467601" y="396142"/>
            <a:ext cx="1169485" cy="1926278"/>
          </a:xfrm>
          <a:custGeom>
            <a:avLst/>
            <a:gdLst/>
            <a:ahLst/>
            <a:cxnLst/>
            <a:rect l="l" t="t" r="r" b="b"/>
            <a:pathLst>
              <a:path w="2541706" h="3910317" extrusionOk="0">
                <a:moveTo>
                  <a:pt x="0" y="0"/>
                </a:moveTo>
                <a:lnTo>
                  <a:pt x="2541706" y="0"/>
                </a:lnTo>
                <a:lnTo>
                  <a:pt x="2541706" y="3910317"/>
                </a:lnTo>
                <a:lnTo>
                  <a:pt x="0" y="3910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20" name="Google Shape;103;p13">
            <a:extLst>
              <a:ext uri="{FF2B5EF4-FFF2-40B4-BE49-F238E27FC236}">
                <a16:creationId xmlns:a16="http://schemas.microsoft.com/office/drawing/2014/main" id="{3C3D16C5-EFBB-8C02-A430-FE0CF39E4600}"/>
              </a:ext>
            </a:extLst>
          </p:cNvPr>
          <p:cNvSpPr/>
          <p:nvPr/>
        </p:nvSpPr>
        <p:spPr>
          <a:xfrm rot="2700000">
            <a:off x="795088" y="5801085"/>
            <a:ext cx="2673675" cy="2329465"/>
          </a:xfrm>
          <a:custGeom>
            <a:avLst/>
            <a:gdLst/>
            <a:ahLst/>
            <a:cxnLst/>
            <a:rect l="l" t="t" r="r" b="b"/>
            <a:pathLst>
              <a:path w="3207989" h="2682681" extrusionOk="0">
                <a:moveTo>
                  <a:pt x="0" y="0"/>
                </a:moveTo>
                <a:lnTo>
                  <a:pt x="3207988" y="0"/>
                </a:lnTo>
                <a:lnTo>
                  <a:pt x="3207988" y="2682681"/>
                </a:lnTo>
                <a:lnTo>
                  <a:pt x="0" y="2682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ea typeface="微軟正黑體" panose="020B0604030504040204" pitchFamily="34" charset="-120"/>
            </a:endParaRPr>
          </a:p>
        </p:txBody>
      </p:sp>
      <p:grpSp>
        <p:nvGrpSpPr>
          <p:cNvPr id="27" name="Google Shape;110;p13">
            <a:extLst>
              <a:ext uri="{FF2B5EF4-FFF2-40B4-BE49-F238E27FC236}">
                <a16:creationId xmlns:a16="http://schemas.microsoft.com/office/drawing/2014/main" id="{60A2F98B-A3C1-C1A0-271A-54F165DA17F1}"/>
              </a:ext>
            </a:extLst>
          </p:cNvPr>
          <p:cNvGrpSpPr/>
          <p:nvPr/>
        </p:nvGrpSpPr>
        <p:grpSpPr>
          <a:xfrm>
            <a:off x="194289" y="3000063"/>
            <a:ext cx="324191" cy="337763"/>
            <a:chOff x="0" y="0"/>
            <a:chExt cx="812800" cy="812800"/>
          </a:xfrm>
        </p:grpSpPr>
        <p:sp>
          <p:nvSpPr>
            <p:cNvPr id="28" name="Google Shape;111;p13">
              <a:extLst>
                <a:ext uri="{FF2B5EF4-FFF2-40B4-BE49-F238E27FC236}">
                  <a16:creationId xmlns:a16="http://schemas.microsoft.com/office/drawing/2014/main" id="{03622D6A-03B4-53D2-510A-EC7F9AA956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21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ea typeface="微軟正黑體" panose="020B0604030504040204" pitchFamily="34" charset="-120"/>
              </a:endParaRPr>
            </a:p>
          </p:txBody>
        </p:sp>
        <p:sp>
          <p:nvSpPr>
            <p:cNvPr id="29" name="Google Shape;112;p13">
              <a:extLst>
                <a:ext uri="{FF2B5EF4-FFF2-40B4-BE49-F238E27FC236}">
                  <a16:creationId xmlns:a16="http://schemas.microsoft.com/office/drawing/2014/main" id="{DB2EBF1D-9D28-CE3C-10F1-D2AD19EB7E4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</p:grpSp>
      <p:sp>
        <p:nvSpPr>
          <p:cNvPr id="36" name="Google Shape;119;p13">
            <a:extLst>
              <a:ext uri="{FF2B5EF4-FFF2-40B4-BE49-F238E27FC236}">
                <a16:creationId xmlns:a16="http://schemas.microsoft.com/office/drawing/2014/main" id="{B7037369-96B4-3825-B19F-F3359167A99F}"/>
              </a:ext>
            </a:extLst>
          </p:cNvPr>
          <p:cNvSpPr/>
          <p:nvPr/>
        </p:nvSpPr>
        <p:spPr>
          <a:xfrm rot="861713">
            <a:off x="476235" y="1073167"/>
            <a:ext cx="1146266" cy="1252166"/>
          </a:xfrm>
          <a:custGeom>
            <a:avLst/>
            <a:gdLst/>
            <a:ahLst/>
            <a:cxnLst/>
            <a:rect l="l" t="t" r="r" b="b"/>
            <a:pathLst>
              <a:path w="1375339" h="1442033" extrusionOk="0">
                <a:moveTo>
                  <a:pt x="0" y="0"/>
                </a:moveTo>
                <a:lnTo>
                  <a:pt x="1375339" y="0"/>
                </a:lnTo>
                <a:lnTo>
                  <a:pt x="1375339" y="1442033"/>
                </a:lnTo>
                <a:lnTo>
                  <a:pt x="0" y="1442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8" name="Google Shape;108;p13">
            <a:extLst>
              <a:ext uri="{FF2B5EF4-FFF2-40B4-BE49-F238E27FC236}">
                <a16:creationId xmlns:a16="http://schemas.microsoft.com/office/drawing/2014/main" id="{171199A1-4391-F590-DBCC-9C25E355963E}"/>
              </a:ext>
            </a:extLst>
          </p:cNvPr>
          <p:cNvSpPr/>
          <p:nvPr/>
        </p:nvSpPr>
        <p:spPr>
          <a:xfrm>
            <a:off x="13622620" y="1621533"/>
            <a:ext cx="538196" cy="538197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ea typeface="微軟正黑體" panose="020B0604030504040204" pitchFamily="34" charset="-120"/>
            </a:endParaRPr>
          </a:p>
        </p:txBody>
      </p:sp>
      <p:grpSp>
        <p:nvGrpSpPr>
          <p:cNvPr id="40" name="Google Shape;110;p13">
            <a:extLst>
              <a:ext uri="{FF2B5EF4-FFF2-40B4-BE49-F238E27FC236}">
                <a16:creationId xmlns:a16="http://schemas.microsoft.com/office/drawing/2014/main" id="{E984C77F-F3CD-F48A-F5C9-198E7DFB06F5}"/>
              </a:ext>
            </a:extLst>
          </p:cNvPr>
          <p:cNvGrpSpPr/>
          <p:nvPr/>
        </p:nvGrpSpPr>
        <p:grpSpPr>
          <a:xfrm>
            <a:off x="13999961" y="6248957"/>
            <a:ext cx="324191" cy="337763"/>
            <a:chOff x="0" y="0"/>
            <a:chExt cx="812800" cy="812800"/>
          </a:xfrm>
        </p:grpSpPr>
        <p:sp>
          <p:nvSpPr>
            <p:cNvPr id="41" name="Google Shape;111;p13">
              <a:extLst>
                <a:ext uri="{FF2B5EF4-FFF2-40B4-BE49-F238E27FC236}">
                  <a16:creationId xmlns:a16="http://schemas.microsoft.com/office/drawing/2014/main" id="{C8122283-3458-892E-9432-83B7ADCAC1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21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ea typeface="微軟正黑體" panose="020B0604030504040204" pitchFamily="34" charset="-120"/>
              </a:endParaRPr>
            </a:p>
          </p:txBody>
        </p:sp>
        <p:sp>
          <p:nvSpPr>
            <p:cNvPr id="42" name="Google Shape;112;p13">
              <a:extLst>
                <a:ext uri="{FF2B5EF4-FFF2-40B4-BE49-F238E27FC236}">
                  <a16:creationId xmlns:a16="http://schemas.microsoft.com/office/drawing/2014/main" id="{2F6792C1-8891-2355-7CB8-5BEEE0E22EB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</p:grpSp>
      <p:sp>
        <p:nvSpPr>
          <p:cNvPr id="43" name="Google Shape;108;p13">
            <a:extLst>
              <a:ext uri="{FF2B5EF4-FFF2-40B4-BE49-F238E27FC236}">
                <a16:creationId xmlns:a16="http://schemas.microsoft.com/office/drawing/2014/main" id="{63F08419-5F78-DDE2-1872-26C13623C656}"/>
              </a:ext>
            </a:extLst>
          </p:cNvPr>
          <p:cNvSpPr/>
          <p:nvPr/>
        </p:nvSpPr>
        <p:spPr>
          <a:xfrm>
            <a:off x="2441029" y="650306"/>
            <a:ext cx="269098" cy="269099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ea typeface="微軟正黑體" panose="020B0604030504040204" pitchFamily="34" charset="-120"/>
            </a:endParaRPr>
          </a:p>
        </p:txBody>
      </p:sp>
      <p:sp>
        <p:nvSpPr>
          <p:cNvPr id="44" name="Google Shape;108;p13">
            <a:extLst>
              <a:ext uri="{FF2B5EF4-FFF2-40B4-BE49-F238E27FC236}">
                <a16:creationId xmlns:a16="http://schemas.microsoft.com/office/drawing/2014/main" id="{DCD159B2-C54B-DC32-5593-4759BDBF23C2}"/>
              </a:ext>
            </a:extLst>
          </p:cNvPr>
          <p:cNvSpPr/>
          <p:nvPr/>
        </p:nvSpPr>
        <p:spPr>
          <a:xfrm>
            <a:off x="3915999" y="7222077"/>
            <a:ext cx="269098" cy="269099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440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FDF7F2B-A7E3-8729-7741-38A916F74811}"/>
              </a:ext>
            </a:extLst>
          </p:cNvPr>
          <p:cNvSpPr/>
          <p:nvPr/>
        </p:nvSpPr>
        <p:spPr>
          <a:xfrm>
            <a:off x="0" y="0"/>
            <a:ext cx="1524000" cy="822960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3327FA2-CCAB-2EDE-BD39-F2B7E1DAA368}"/>
              </a:ext>
            </a:extLst>
          </p:cNvPr>
          <p:cNvSpPr txBox="1"/>
          <p:nvPr/>
        </p:nvSpPr>
        <p:spPr>
          <a:xfrm>
            <a:off x="582204" y="1603015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B173881F-2A44-7E4E-A331-4CADDFA6C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36" y="318632"/>
            <a:ext cx="1190632" cy="128438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B85076-5D7C-9164-DC78-36354FE3E0A8}"/>
              </a:ext>
            </a:extLst>
          </p:cNvPr>
          <p:cNvSpPr txBox="1"/>
          <p:nvPr/>
        </p:nvSpPr>
        <p:spPr>
          <a:xfrm>
            <a:off x="32002" y="2211489"/>
            <a:ext cx="143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目的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583CCE4-BA72-6BD6-0370-A78198241675}"/>
              </a:ext>
            </a:extLst>
          </p:cNvPr>
          <p:cNvSpPr txBox="1"/>
          <p:nvPr/>
        </p:nvSpPr>
        <p:spPr>
          <a:xfrm>
            <a:off x="32002" y="3414942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架構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0D8FC18-803E-FDBA-6E42-A0C86DF75936}"/>
              </a:ext>
            </a:extLst>
          </p:cNvPr>
          <p:cNvSpPr txBox="1"/>
          <p:nvPr/>
        </p:nvSpPr>
        <p:spPr>
          <a:xfrm>
            <a:off x="32002" y="4556840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機制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EE9ADA4-8095-CBFC-BF9D-D11963D57341}"/>
              </a:ext>
            </a:extLst>
          </p:cNvPr>
          <p:cNvSpPr txBox="1"/>
          <p:nvPr/>
        </p:nvSpPr>
        <p:spPr>
          <a:xfrm>
            <a:off x="32002" y="5698738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成果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260AEE-1D9B-CCA2-9345-13959EF8E3AA}"/>
              </a:ext>
            </a:extLst>
          </p:cNvPr>
          <p:cNvSpPr txBox="1"/>
          <p:nvPr/>
        </p:nvSpPr>
        <p:spPr>
          <a:xfrm>
            <a:off x="32002" y="6840636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總結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CB951A-D3BA-E788-2D5B-E8C6C4F05869}"/>
              </a:ext>
            </a:extLst>
          </p:cNvPr>
          <p:cNvSpPr txBox="1"/>
          <p:nvPr/>
        </p:nvSpPr>
        <p:spPr>
          <a:xfrm>
            <a:off x="582204" y="2744913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78405F7-08C6-C46F-78BA-31C131880FE3}"/>
              </a:ext>
            </a:extLst>
          </p:cNvPr>
          <p:cNvSpPr txBox="1"/>
          <p:nvPr/>
        </p:nvSpPr>
        <p:spPr>
          <a:xfrm>
            <a:off x="582204" y="3886811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0B0B615-3E34-0C74-FF2A-565F74F6C843}"/>
              </a:ext>
            </a:extLst>
          </p:cNvPr>
          <p:cNvSpPr txBox="1"/>
          <p:nvPr/>
        </p:nvSpPr>
        <p:spPr>
          <a:xfrm>
            <a:off x="582204" y="5028709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DE99807-CD70-8946-9200-F38BF97B5FE7}"/>
              </a:ext>
            </a:extLst>
          </p:cNvPr>
          <p:cNvSpPr txBox="1"/>
          <p:nvPr/>
        </p:nvSpPr>
        <p:spPr>
          <a:xfrm>
            <a:off x="582204" y="6170607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89EDAA-3F96-966E-B5D1-D35782210DFE}"/>
              </a:ext>
            </a:extLst>
          </p:cNvPr>
          <p:cNvSpPr txBox="1"/>
          <p:nvPr/>
        </p:nvSpPr>
        <p:spPr>
          <a:xfrm>
            <a:off x="582204" y="7312502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1DDD085E-9058-D19E-D2B3-89F0C4CA0339}"/>
              </a:ext>
            </a:extLst>
          </p:cNvPr>
          <p:cNvGrpSpPr/>
          <p:nvPr/>
        </p:nvGrpSpPr>
        <p:grpSpPr>
          <a:xfrm>
            <a:off x="7548019" y="2828372"/>
            <a:ext cx="4279232" cy="707886"/>
            <a:chOff x="7383546" y="2630329"/>
            <a:chExt cx="4279232" cy="707886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E509463B-36F5-6EA3-6237-A31C1445351A}"/>
                </a:ext>
              </a:extLst>
            </p:cNvPr>
            <p:cNvSpPr txBox="1"/>
            <p:nvPr/>
          </p:nvSpPr>
          <p:spPr>
            <a:xfrm>
              <a:off x="8204827" y="2722662"/>
              <a:ext cx="345795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800" dirty="0">
                  <a:ea typeface="微軟正黑體" panose="020B0604030504040204" pitchFamily="34" charset="-120"/>
                </a:rPr>
                <a:t>在遊戲中</a:t>
              </a:r>
              <a:r>
                <a:rPr lang="zh-TW" altLang="en-US" sz="2800" dirty="0">
                  <a:solidFill>
                    <a:srgbClr val="FF5050"/>
                  </a:solidFill>
                  <a:ea typeface="微軟正黑體" panose="020B0604030504040204" pitchFamily="34" charset="-120"/>
                </a:rPr>
                <a:t>反覆練習</a:t>
              </a:r>
            </a:p>
          </p:txBody>
        </p:sp>
        <p:sp>
          <p:nvSpPr>
            <p:cNvPr id="14" name="箭號: 向下 13">
              <a:extLst>
                <a:ext uri="{FF2B5EF4-FFF2-40B4-BE49-F238E27FC236}">
                  <a16:creationId xmlns:a16="http://schemas.microsoft.com/office/drawing/2014/main" id="{02FBA1BE-CC5E-261A-5A38-5ABAE90699ED}"/>
                </a:ext>
              </a:extLst>
            </p:cNvPr>
            <p:cNvSpPr/>
            <p:nvPr/>
          </p:nvSpPr>
          <p:spPr>
            <a:xfrm>
              <a:off x="7383546" y="2630329"/>
              <a:ext cx="584200" cy="707886"/>
            </a:xfrm>
            <a:prstGeom prst="downArrow">
              <a:avLst/>
            </a:prstGeom>
            <a:noFill/>
            <a:ln w="38100"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ea typeface="微軟正黑體" panose="020B0604030504040204" pitchFamily="34" charset="-120"/>
              </a:endParaRPr>
            </a:p>
          </p:txBody>
        </p: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76FA934-EF06-9655-B987-3EDAF706920D}"/>
              </a:ext>
            </a:extLst>
          </p:cNvPr>
          <p:cNvSpPr txBox="1"/>
          <p:nvPr/>
        </p:nvSpPr>
        <p:spPr>
          <a:xfrm>
            <a:off x="2181777" y="5968401"/>
            <a:ext cx="1141450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dirty="0">
                <a:ea typeface="微軟正黑體" panose="020B0604030504040204" pitchFamily="34" charset="-120"/>
              </a:rPr>
              <a:t>為計算機理論課程帶來全新的學習體驗</a:t>
            </a:r>
          </a:p>
          <a:p>
            <a:pPr algn="ctr"/>
            <a:r>
              <a:rPr lang="zh-TW" altLang="en-US" sz="4400" dirty="0">
                <a:ea typeface="微軟正黑體" panose="020B0604030504040204" pitchFamily="34" charset="-120"/>
              </a:rPr>
              <a:t>激發學習者的學習熱情</a:t>
            </a: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B7C53F04-4449-D021-FE9B-FE62A5C21A41}"/>
              </a:ext>
            </a:extLst>
          </p:cNvPr>
          <p:cNvGrpSpPr/>
          <p:nvPr/>
        </p:nvGrpSpPr>
        <p:grpSpPr>
          <a:xfrm>
            <a:off x="3824120" y="3848325"/>
            <a:ext cx="8167604" cy="1715675"/>
            <a:chOff x="3659647" y="3663472"/>
            <a:chExt cx="8167604" cy="1715675"/>
          </a:xfrm>
        </p:grpSpPr>
        <p:sp>
          <p:nvSpPr>
            <p:cNvPr id="39" name="矩形: 圓角 38">
              <a:extLst>
                <a:ext uri="{FF2B5EF4-FFF2-40B4-BE49-F238E27FC236}">
                  <a16:creationId xmlns:a16="http://schemas.microsoft.com/office/drawing/2014/main" id="{4EE42AEA-5982-22A8-EE59-6AD4D33131D1}"/>
                </a:ext>
              </a:extLst>
            </p:cNvPr>
            <p:cNvSpPr/>
            <p:nvPr/>
          </p:nvSpPr>
          <p:spPr>
            <a:xfrm>
              <a:off x="3659647" y="3663472"/>
              <a:ext cx="8167604" cy="1715675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ea typeface="微軟正黑體" panose="020B0604030504040204" pitchFamily="34" charset="-12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49E76A57-1E4E-FD12-BF3E-2774979164BE}"/>
                </a:ext>
              </a:extLst>
            </p:cNvPr>
            <p:cNvSpPr txBox="1"/>
            <p:nvPr/>
          </p:nvSpPr>
          <p:spPr>
            <a:xfrm>
              <a:off x="4186500" y="3992334"/>
              <a:ext cx="7113899" cy="107721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TW" altLang="en-US" sz="3200" dirty="0">
                  <a:solidFill>
                    <a:schemeClr val="bg2">
                      <a:lumMod val="10000"/>
                    </a:schemeClr>
                  </a:solidFill>
                  <a:ea typeface="微軟正黑體" panose="020B0604030504040204" pitchFamily="34" charset="-120"/>
                </a:rPr>
                <a:t>增加：學習興趣、動力</a:t>
              </a:r>
            </a:p>
            <a:p>
              <a:r>
                <a:rPr lang="zh-TW" altLang="en-US" sz="3200" dirty="0">
                  <a:solidFill>
                    <a:schemeClr val="bg2">
                      <a:lumMod val="10000"/>
                    </a:schemeClr>
                  </a:solidFill>
                  <a:ea typeface="微軟正黑體" panose="020B0604030504040204" pitchFamily="34" charset="-120"/>
                </a:rPr>
                <a:t>培養：批判性思維、問題解決能力</a:t>
              </a: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4FDCA598-6AF8-D4FA-904A-3E7ADFFD54C7}"/>
              </a:ext>
            </a:extLst>
          </p:cNvPr>
          <p:cNvGrpSpPr/>
          <p:nvPr/>
        </p:nvGrpSpPr>
        <p:grpSpPr>
          <a:xfrm>
            <a:off x="2452330" y="1408308"/>
            <a:ext cx="10750258" cy="1015663"/>
            <a:chOff x="1946399" y="2659590"/>
            <a:chExt cx="10750258" cy="1015663"/>
          </a:xfrm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43241DE0-59DD-0CDE-475D-63D58616E099}"/>
                </a:ext>
              </a:extLst>
            </p:cNvPr>
            <p:cNvSpPr txBox="1"/>
            <p:nvPr/>
          </p:nvSpPr>
          <p:spPr>
            <a:xfrm>
              <a:off x="1946399" y="2725892"/>
              <a:ext cx="4476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4800" b="1" dirty="0">
                  <a:solidFill>
                    <a:srgbClr val="2E75B6"/>
                  </a:solidFill>
                  <a:ea typeface="微軟正黑體" panose="020B0604030504040204" pitchFamily="34" charset="-120"/>
                </a:rPr>
                <a:t>遊戲化學習系統</a:t>
              </a: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2CB79A8A-780C-791C-E854-015599949210}"/>
                </a:ext>
              </a:extLst>
            </p:cNvPr>
            <p:cNvSpPr txBox="1"/>
            <p:nvPr/>
          </p:nvSpPr>
          <p:spPr>
            <a:xfrm>
              <a:off x="8207247" y="2751923"/>
              <a:ext cx="44894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4800" b="1" dirty="0">
                  <a:solidFill>
                    <a:srgbClr val="2E75B6"/>
                  </a:solidFill>
                  <a:ea typeface="微軟正黑體" panose="020B0604030504040204" pitchFamily="34" charset="-120"/>
                </a:rPr>
                <a:t>大富翁遊戲框架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36DC4AB0-CA74-54CB-670C-E99F474C6E00}"/>
                </a:ext>
              </a:extLst>
            </p:cNvPr>
            <p:cNvSpPr txBox="1"/>
            <p:nvPr/>
          </p:nvSpPr>
          <p:spPr>
            <a:xfrm>
              <a:off x="7056371" y="2659590"/>
              <a:ext cx="517655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6000" dirty="0">
                  <a:latin typeface="Aptos Black" panose="020F0502020204030204" pitchFamily="34" charset="0"/>
                  <a:ea typeface="微軟正黑體" panose="020B0604030504040204" pitchFamily="34" charset="-120"/>
                </a:rPr>
                <a:t>+</a:t>
              </a:r>
              <a:endParaRPr lang="zh-TW" altLang="en-US" sz="6000" dirty="0">
                <a:latin typeface="Aptos Black" panose="020F050202020403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50" name="Google Shape;89;p13">
            <a:extLst>
              <a:ext uri="{FF2B5EF4-FFF2-40B4-BE49-F238E27FC236}">
                <a16:creationId xmlns:a16="http://schemas.microsoft.com/office/drawing/2014/main" id="{8F35840F-541E-6804-CB62-BE9C3D28761B}"/>
              </a:ext>
            </a:extLst>
          </p:cNvPr>
          <p:cNvSpPr txBox="1"/>
          <p:nvPr/>
        </p:nvSpPr>
        <p:spPr>
          <a:xfrm>
            <a:off x="1678236" y="275044"/>
            <a:ext cx="420087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1"/>
              </a:lnSpc>
            </a:pPr>
            <a:r>
              <a:rPr lang="zh-TW" altLang="en-US" sz="3600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</a:rPr>
              <a:t>研究動機與目的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Walbaum Display Heavy" panose="020F0502020204030204" pitchFamily="18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4364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FDF7F2B-A7E3-8729-7741-38A916F74811}"/>
              </a:ext>
            </a:extLst>
          </p:cNvPr>
          <p:cNvSpPr/>
          <p:nvPr/>
        </p:nvSpPr>
        <p:spPr>
          <a:xfrm>
            <a:off x="0" y="0"/>
            <a:ext cx="1524000" cy="822960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3327FA2-CCAB-2EDE-BD39-F2B7E1DAA368}"/>
              </a:ext>
            </a:extLst>
          </p:cNvPr>
          <p:cNvSpPr txBox="1"/>
          <p:nvPr/>
        </p:nvSpPr>
        <p:spPr>
          <a:xfrm>
            <a:off x="582204" y="1603015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B173881F-2A44-7E4E-A331-4CADDFA6C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36" y="318632"/>
            <a:ext cx="1190632" cy="128438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B85076-5D7C-9164-DC78-36354FE3E0A8}"/>
              </a:ext>
            </a:extLst>
          </p:cNvPr>
          <p:cNvSpPr txBox="1"/>
          <p:nvPr/>
        </p:nvSpPr>
        <p:spPr>
          <a:xfrm>
            <a:off x="32002" y="2273044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目的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583CCE4-BA72-6BD6-0370-A78198241675}"/>
              </a:ext>
            </a:extLst>
          </p:cNvPr>
          <p:cNvSpPr txBox="1"/>
          <p:nvPr/>
        </p:nvSpPr>
        <p:spPr>
          <a:xfrm>
            <a:off x="44450" y="3349533"/>
            <a:ext cx="143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架構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0D8FC18-803E-FDBA-6E42-A0C86DF75936}"/>
              </a:ext>
            </a:extLst>
          </p:cNvPr>
          <p:cNvSpPr txBox="1"/>
          <p:nvPr/>
        </p:nvSpPr>
        <p:spPr>
          <a:xfrm>
            <a:off x="32002" y="4556840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機制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EE9ADA4-8095-CBFC-BF9D-D11963D57341}"/>
              </a:ext>
            </a:extLst>
          </p:cNvPr>
          <p:cNvSpPr txBox="1"/>
          <p:nvPr/>
        </p:nvSpPr>
        <p:spPr>
          <a:xfrm>
            <a:off x="32002" y="5698738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成果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260AEE-1D9B-CCA2-9345-13959EF8E3AA}"/>
              </a:ext>
            </a:extLst>
          </p:cNvPr>
          <p:cNvSpPr txBox="1"/>
          <p:nvPr/>
        </p:nvSpPr>
        <p:spPr>
          <a:xfrm>
            <a:off x="32002" y="6840636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總結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CB951A-D3BA-E788-2D5B-E8C6C4F05869}"/>
              </a:ext>
            </a:extLst>
          </p:cNvPr>
          <p:cNvSpPr txBox="1"/>
          <p:nvPr/>
        </p:nvSpPr>
        <p:spPr>
          <a:xfrm>
            <a:off x="582204" y="2744913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78405F7-08C6-C46F-78BA-31C131880FE3}"/>
              </a:ext>
            </a:extLst>
          </p:cNvPr>
          <p:cNvSpPr txBox="1"/>
          <p:nvPr/>
        </p:nvSpPr>
        <p:spPr>
          <a:xfrm>
            <a:off x="582204" y="3886811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0B0B615-3E34-0C74-FF2A-565F74F6C843}"/>
              </a:ext>
            </a:extLst>
          </p:cNvPr>
          <p:cNvSpPr txBox="1"/>
          <p:nvPr/>
        </p:nvSpPr>
        <p:spPr>
          <a:xfrm>
            <a:off x="582204" y="5028709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DE99807-CD70-8946-9200-F38BF97B5FE7}"/>
              </a:ext>
            </a:extLst>
          </p:cNvPr>
          <p:cNvSpPr txBox="1"/>
          <p:nvPr/>
        </p:nvSpPr>
        <p:spPr>
          <a:xfrm>
            <a:off x="582204" y="6170607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89EDAA-3F96-966E-B5D1-D35782210DFE}"/>
              </a:ext>
            </a:extLst>
          </p:cNvPr>
          <p:cNvSpPr txBox="1"/>
          <p:nvPr/>
        </p:nvSpPr>
        <p:spPr>
          <a:xfrm>
            <a:off x="582204" y="7312502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4" name="圖片 3" descr="一張含有 文字, 字型, 螢幕擷取畫面, 行 的圖片&#10;&#10;自動產生的描述">
            <a:extLst>
              <a:ext uri="{FF2B5EF4-FFF2-40B4-BE49-F238E27FC236}">
                <a16:creationId xmlns:a16="http://schemas.microsoft.com/office/drawing/2014/main" id="{F1A94EC5-9DD5-249F-2F17-AE06F4EA5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518" y="2280312"/>
            <a:ext cx="7891498" cy="3934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" name="Google Shape;89;p13">
            <a:extLst>
              <a:ext uri="{FF2B5EF4-FFF2-40B4-BE49-F238E27FC236}">
                <a16:creationId xmlns:a16="http://schemas.microsoft.com/office/drawing/2014/main" id="{831848F1-3B54-AC8B-E290-A69C144B6D86}"/>
              </a:ext>
            </a:extLst>
          </p:cNvPr>
          <p:cNvSpPr txBox="1"/>
          <p:nvPr/>
        </p:nvSpPr>
        <p:spPr>
          <a:xfrm>
            <a:off x="1678236" y="275044"/>
            <a:ext cx="420087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1"/>
              </a:lnSpc>
            </a:pPr>
            <a:r>
              <a:rPr lang="zh-TW" altLang="en-US" sz="3600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</a:rPr>
              <a:t>系統架構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Walbaum Display Heavy" panose="020F0502020204030204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46F2AA8B-4F8B-82A2-668D-AF0B23A6D3D7}"/>
              </a:ext>
            </a:extLst>
          </p:cNvPr>
          <p:cNvGrpSpPr/>
          <p:nvPr/>
        </p:nvGrpSpPr>
        <p:grpSpPr>
          <a:xfrm>
            <a:off x="10289926" y="1381309"/>
            <a:ext cx="3729304" cy="1164791"/>
            <a:chOff x="3065622" y="5230108"/>
            <a:chExt cx="3729304" cy="1164791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62311576-36AF-6369-C30D-D6043485BDB5}"/>
                </a:ext>
              </a:extLst>
            </p:cNvPr>
            <p:cNvSpPr/>
            <p:nvPr/>
          </p:nvSpPr>
          <p:spPr>
            <a:xfrm>
              <a:off x="3065622" y="5230108"/>
              <a:ext cx="468630" cy="468630"/>
            </a:xfrm>
            <a:prstGeom prst="roundRect">
              <a:avLst>
                <a:gd name="adj" fmla="val 1951"/>
              </a:avLst>
            </a:prstGeom>
            <a:solidFill>
              <a:srgbClr val="F8ECE4"/>
            </a:solidFill>
            <a:ln w="7620">
              <a:solidFill>
                <a:srgbClr val="151617"/>
              </a:solidFill>
              <a:prstDash val="solid"/>
            </a:ln>
            <a:effectLst>
              <a:outerShdw dist="19050" dir="2700000" algn="bl" rotWithShape="0">
                <a:srgbClr val="151617">
                  <a:alpha val="100000"/>
                </a:srgbClr>
              </a:outerShdw>
            </a:effectLst>
          </p:spPr>
          <p:txBody>
            <a:bodyPr/>
            <a:lstStyle/>
            <a:p>
              <a:endParaRPr lang="zh-TW" altLang="en-US" sz="2400">
                <a:ea typeface="微軟正黑體" panose="020B0604030504040204" pitchFamily="34" charset="-120"/>
              </a:endParaRPr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FEC9F4F3-B86C-845A-972D-1772E49EE917}"/>
                </a:ext>
              </a:extLst>
            </p:cNvPr>
            <p:cNvSpPr/>
            <p:nvPr/>
          </p:nvSpPr>
          <p:spPr>
            <a:xfrm>
              <a:off x="3234631" y="5374963"/>
              <a:ext cx="130612" cy="3124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450"/>
                </a:lnSpc>
                <a:buNone/>
              </a:pPr>
              <a:r>
                <a:rPr lang="en-US" sz="3200" b="1" dirty="0">
                  <a:solidFill>
                    <a:srgbClr val="151617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Black" pitchFamily="34" charset="-120"/>
                </a:rPr>
                <a:t>1</a:t>
              </a:r>
              <a:endParaRPr lang="en-US" sz="32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BC405071-D7B0-E20A-7F45-69FD83ACCD0A}"/>
                </a:ext>
              </a:extLst>
            </p:cNvPr>
            <p:cNvSpPr/>
            <p:nvPr/>
          </p:nvSpPr>
          <p:spPr>
            <a:xfrm>
              <a:off x="3773985" y="5389399"/>
              <a:ext cx="2603778" cy="3253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800" b="1" dirty="0">
                  <a:solidFill>
                    <a:srgbClr val="151617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Black" pitchFamily="34" charset="-120"/>
                </a:rPr>
                <a:t>React.js</a:t>
              </a:r>
              <a:endParaRPr lang="en-US" sz="28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669C5F56-5D2E-71A0-F681-5C41B063C40E}"/>
                </a:ext>
              </a:extLst>
            </p:cNvPr>
            <p:cNvSpPr txBox="1"/>
            <p:nvPr/>
          </p:nvSpPr>
          <p:spPr>
            <a:xfrm>
              <a:off x="3234631" y="5946315"/>
              <a:ext cx="3560295" cy="44858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altLang="zh-TW" sz="3200" dirty="0" err="1">
                  <a:solidFill>
                    <a:srgbClr val="15161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consolata" pitchFamily="34" charset="-120"/>
                </a:rPr>
                <a:t>前端遊戲介面</a:t>
              </a:r>
              <a:endPara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558762CB-4D3B-DF02-B507-343E48D84048}"/>
              </a:ext>
            </a:extLst>
          </p:cNvPr>
          <p:cNvGrpSpPr/>
          <p:nvPr/>
        </p:nvGrpSpPr>
        <p:grpSpPr>
          <a:xfrm>
            <a:off x="10289926" y="2965449"/>
            <a:ext cx="3729306" cy="1152801"/>
            <a:chOff x="3065622" y="5230108"/>
            <a:chExt cx="3729306" cy="1152801"/>
          </a:xfrm>
        </p:grpSpPr>
        <p:sp>
          <p:nvSpPr>
            <p:cNvPr id="44" name="Shape 3">
              <a:extLst>
                <a:ext uri="{FF2B5EF4-FFF2-40B4-BE49-F238E27FC236}">
                  <a16:creationId xmlns:a16="http://schemas.microsoft.com/office/drawing/2014/main" id="{A2131DF1-F1E2-4F77-B078-C0B287690B31}"/>
                </a:ext>
              </a:extLst>
            </p:cNvPr>
            <p:cNvSpPr/>
            <p:nvPr/>
          </p:nvSpPr>
          <p:spPr>
            <a:xfrm>
              <a:off x="3065622" y="5230108"/>
              <a:ext cx="468630" cy="468630"/>
            </a:xfrm>
            <a:prstGeom prst="roundRect">
              <a:avLst>
                <a:gd name="adj" fmla="val 1951"/>
              </a:avLst>
            </a:prstGeom>
            <a:solidFill>
              <a:srgbClr val="F8ECE4"/>
            </a:solidFill>
            <a:ln w="7620">
              <a:solidFill>
                <a:srgbClr val="151617"/>
              </a:solidFill>
              <a:prstDash val="solid"/>
            </a:ln>
            <a:effectLst>
              <a:outerShdw dist="19050" dir="2700000" algn="bl" rotWithShape="0">
                <a:srgbClr val="151617">
                  <a:alpha val="100000"/>
                </a:srgbClr>
              </a:outerShdw>
            </a:effectLst>
          </p:spPr>
          <p:txBody>
            <a:bodyPr/>
            <a:lstStyle/>
            <a:p>
              <a:endParaRPr lang="zh-TW" altLang="en-US" sz="2400" dirty="0">
                <a:ea typeface="微軟正黑體" panose="020B0604030504040204" pitchFamily="34" charset="-120"/>
              </a:endParaRPr>
            </a:p>
          </p:txBody>
        </p:sp>
        <p:sp>
          <p:nvSpPr>
            <p:cNvPr id="45" name="Text 4">
              <a:extLst>
                <a:ext uri="{FF2B5EF4-FFF2-40B4-BE49-F238E27FC236}">
                  <a16:creationId xmlns:a16="http://schemas.microsoft.com/office/drawing/2014/main" id="{3C5F8C03-7C5C-548D-2B7C-7D4A0B963E01}"/>
                </a:ext>
              </a:extLst>
            </p:cNvPr>
            <p:cNvSpPr/>
            <p:nvPr/>
          </p:nvSpPr>
          <p:spPr>
            <a:xfrm>
              <a:off x="3234631" y="5374963"/>
              <a:ext cx="130612" cy="3124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450"/>
                </a:lnSpc>
                <a:buNone/>
              </a:pPr>
              <a:r>
                <a:rPr lang="en-US" altLang="zh-TW" sz="3200" b="1" dirty="0">
                  <a:solidFill>
                    <a:srgbClr val="151617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Black" pitchFamily="34" charset="-120"/>
                </a:rPr>
                <a:t>2</a:t>
              </a:r>
              <a:endParaRPr lang="en-US" sz="32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46" name="Text 5">
              <a:extLst>
                <a:ext uri="{FF2B5EF4-FFF2-40B4-BE49-F238E27FC236}">
                  <a16:creationId xmlns:a16="http://schemas.microsoft.com/office/drawing/2014/main" id="{91F070B6-7A4B-D721-E488-66FBA6F2F7BE}"/>
                </a:ext>
              </a:extLst>
            </p:cNvPr>
            <p:cNvSpPr/>
            <p:nvPr/>
          </p:nvSpPr>
          <p:spPr>
            <a:xfrm>
              <a:off x="3773985" y="5389399"/>
              <a:ext cx="2603778" cy="3253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800" b="1" dirty="0">
                  <a:solidFill>
                    <a:srgbClr val="151617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Black" pitchFamily="34" charset="-120"/>
                </a:rPr>
                <a:t>Fast API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1E76132B-BE3F-1731-A0F3-7323559E28AC}"/>
                </a:ext>
              </a:extLst>
            </p:cNvPr>
            <p:cNvSpPr txBox="1"/>
            <p:nvPr/>
          </p:nvSpPr>
          <p:spPr>
            <a:xfrm>
              <a:off x="3234632" y="5946315"/>
              <a:ext cx="3560296" cy="43659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zh-TW" altLang="en-US" sz="3200" dirty="0">
                  <a:solidFill>
                    <a:srgbClr val="15161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consolata" pitchFamily="34" charset="-120"/>
                </a:rPr>
                <a:t>溝通前後端的橋樑</a:t>
              </a: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E12F453D-41D4-0F47-9C8C-20B3302BEFD5}"/>
              </a:ext>
            </a:extLst>
          </p:cNvPr>
          <p:cNvGrpSpPr/>
          <p:nvPr/>
        </p:nvGrpSpPr>
        <p:grpSpPr>
          <a:xfrm>
            <a:off x="10289926" y="4537599"/>
            <a:ext cx="3729304" cy="1164791"/>
            <a:chOff x="3065622" y="5230108"/>
            <a:chExt cx="3729304" cy="1164791"/>
          </a:xfrm>
        </p:grpSpPr>
        <p:sp>
          <p:nvSpPr>
            <p:cNvPr id="49" name="Shape 3">
              <a:extLst>
                <a:ext uri="{FF2B5EF4-FFF2-40B4-BE49-F238E27FC236}">
                  <a16:creationId xmlns:a16="http://schemas.microsoft.com/office/drawing/2014/main" id="{F96AC707-52B0-7BE1-0BB2-77622F38372C}"/>
                </a:ext>
              </a:extLst>
            </p:cNvPr>
            <p:cNvSpPr/>
            <p:nvPr/>
          </p:nvSpPr>
          <p:spPr>
            <a:xfrm>
              <a:off x="3065622" y="5230108"/>
              <a:ext cx="468630" cy="468630"/>
            </a:xfrm>
            <a:prstGeom prst="roundRect">
              <a:avLst>
                <a:gd name="adj" fmla="val 1951"/>
              </a:avLst>
            </a:prstGeom>
            <a:solidFill>
              <a:srgbClr val="F8ECE4"/>
            </a:solidFill>
            <a:ln w="7620">
              <a:solidFill>
                <a:srgbClr val="151617"/>
              </a:solidFill>
              <a:prstDash val="solid"/>
            </a:ln>
            <a:effectLst>
              <a:outerShdw dist="19050" dir="2700000" algn="bl" rotWithShape="0">
                <a:srgbClr val="151617">
                  <a:alpha val="100000"/>
                </a:srgbClr>
              </a:outerShdw>
            </a:effectLst>
          </p:spPr>
          <p:txBody>
            <a:bodyPr/>
            <a:lstStyle/>
            <a:p>
              <a:endParaRPr lang="zh-TW" altLang="en-US" sz="2400" dirty="0">
                <a:ea typeface="微軟正黑體" panose="020B0604030504040204" pitchFamily="34" charset="-120"/>
              </a:endParaRPr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783F82C4-C197-F78E-8DAE-42A02487F085}"/>
                </a:ext>
              </a:extLst>
            </p:cNvPr>
            <p:cNvSpPr/>
            <p:nvPr/>
          </p:nvSpPr>
          <p:spPr>
            <a:xfrm>
              <a:off x="3234631" y="5374963"/>
              <a:ext cx="130612" cy="3124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450"/>
                </a:lnSpc>
                <a:buNone/>
              </a:pPr>
              <a:r>
                <a:rPr lang="en-US" altLang="zh-TW" sz="32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  <a:endParaRPr lang="en-US" sz="32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51" name="Text 5">
              <a:extLst>
                <a:ext uri="{FF2B5EF4-FFF2-40B4-BE49-F238E27FC236}">
                  <a16:creationId xmlns:a16="http://schemas.microsoft.com/office/drawing/2014/main" id="{E76352A8-CACC-DD0E-64F3-D1F5B8F486C6}"/>
                </a:ext>
              </a:extLst>
            </p:cNvPr>
            <p:cNvSpPr/>
            <p:nvPr/>
          </p:nvSpPr>
          <p:spPr>
            <a:xfrm>
              <a:off x="3773985" y="5389399"/>
              <a:ext cx="2603778" cy="3253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800" b="1" dirty="0">
                  <a:solidFill>
                    <a:srgbClr val="151617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Black" pitchFamily="34" charset="-120"/>
                </a:rPr>
                <a:t>DOM Judge</a:t>
              </a: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9C525D5E-0EF3-3D2D-E2F3-4BED45F12A9A}"/>
                </a:ext>
              </a:extLst>
            </p:cNvPr>
            <p:cNvSpPr txBox="1"/>
            <p:nvPr/>
          </p:nvSpPr>
          <p:spPr>
            <a:xfrm>
              <a:off x="3234631" y="5946315"/>
              <a:ext cx="3560295" cy="44858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zh-TW" altLang="en-US" sz="3200" dirty="0">
                  <a:solidFill>
                    <a:srgbClr val="15161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consolata" pitchFamily="34" charset="-120"/>
                </a:rPr>
                <a:t>程式裁判系統</a:t>
              </a:r>
              <a:endPara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96DEA947-A25F-3CA3-F338-C0CD5B7B3D36}"/>
              </a:ext>
            </a:extLst>
          </p:cNvPr>
          <p:cNvGrpSpPr/>
          <p:nvPr/>
        </p:nvGrpSpPr>
        <p:grpSpPr>
          <a:xfrm>
            <a:off x="10289926" y="6121740"/>
            <a:ext cx="3729306" cy="1152801"/>
            <a:chOff x="3065622" y="5230108"/>
            <a:chExt cx="3729306" cy="1152801"/>
          </a:xfrm>
        </p:grpSpPr>
        <p:sp>
          <p:nvSpPr>
            <p:cNvPr id="54" name="Shape 3">
              <a:extLst>
                <a:ext uri="{FF2B5EF4-FFF2-40B4-BE49-F238E27FC236}">
                  <a16:creationId xmlns:a16="http://schemas.microsoft.com/office/drawing/2014/main" id="{1B65681C-FDA5-4520-6118-FEF361887BA3}"/>
                </a:ext>
              </a:extLst>
            </p:cNvPr>
            <p:cNvSpPr/>
            <p:nvPr/>
          </p:nvSpPr>
          <p:spPr>
            <a:xfrm>
              <a:off x="3065622" y="5230108"/>
              <a:ext cx="468630" cy="468630"/>
            </a:xfrm>
            <a:prstGeom prst="roundRect">
              <a:avLst>
                <a:gd name="adj" fmla="val 1951"/>
              </a:avLst>
            </a:prstGeom>
            <a:solidFill>
              <a:srgbClr val="F8ECE4"/>
            </a:solidFill>
            <a:ln w="7620">
              <a:solidFill>
                <a:srgbClr val="151617"/>
              </a:solidFill>
              <a:prstDash val="solid"/>
            </a:ln>
            <a:effectLst>
              <a:outerShdw dist="19050" dir="2700000" algn="bl" rotWithShape="0">
                <a:srgbClr val="151617">
                  <a:alpha val="100000"/>
                </a:srgbClr>
              </a:outerShdw>
            </a:effectLst>
          </p:spPr>
          <p:txBody>
            <a:bodyPr/>
            <a:lstStyle/>
            <a:p>
              <a:endParaRPr lang="zh-TW" altLang="en-US" sz="2400" dirty="0">
                <a:ea typeface="微軟正黑體" panose="020B0604030504040204" pitchFamily="34" charset="-120"/>
              </a:endParaRPr>
            </a:p>
          </p:txBody>
        </p:sp>
        <p:sp>
          <p:nvSpPr>
            <p:cNvPr id="55" name="Text 4">
              <a:extLst>
                <a:ext uri="{FF2B5EF4-FFF2-40B4-BE49-F238E27FC236}">
                  <a16:creationId xmlns:a16="http://schemas.microsoft.com/office/drawing/2014/main" id="{7F106C91-6DEA-7B5A-3230-16FFEC2B181F}"/>
                </a:ext>
              </a:extLst>
            </p:cNvPr>
            <p:cNvSpPr/>
            <p:nvPr/>
          </p:nvSpPr>
          <p:spPr>
            <a:xfrm>
              <a:off x="3234631" y="5374963"/>
              <a:ext cx="130612" cy="3124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450"/>
                </a:lnSpc>
                <a:buNone/>
              </a:pPr>
              <a:r>
                <a:rPr lang="en-US" altLang="zh-TW" sz="3200" b="1" dirty="0">
                  <a:solidFill>
                    <a:srgbClr val="151617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Black" pitchFamily="34" charset="-120"/>
                </a:rPr>
                <a:t>4</a:t>
              </a:r>
              <a:endParaRPr lang="en-US" sz="32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56" name="Text 5">
              <a:extLst>
                <a:ext uri="{FF2B5EF4-FFF2-40B4-BE49-F238E27FC236}">
                  <a16:creationId xmlns:a16="http://schemas.microsoft.com/office/drawing/2014/main" id="{0CCE14A0-642E-A82A-E84A-AF083E0E26F8}"/>
                </a:ext>
              </a:extLst>
            </p:cNvPr>
            <p:cNvSpPr/>
            <p:nvPr/>
          </p:nvSpPr>
          <p:spPr>
            <a:xfrm>
              <a:off x="3773985" y="5389399"/>
              <a:ext cx="2603778" cy="3253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altLang="zh-TW" sz="2800" b="1" dirty="0">
                  <a:solidFill>
                    <a:srgbClr val="151617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Black" pitchFamily="34" charset="-120"/>
                </a:rPr>
                <a:t>MySQL</a:t>
              </a:r>
              <a:endParaRPr lang="en-US" sz="2800" b="1" dirty="0">
                <a:solidFill>
                  <a:srgbClr val="151617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lack" pitchFamily="34" charset="-12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AD90C450-D5F0-EF92-A168-E5CF9DD4FCE7}"/>
                </a:ext>
              </a:extLst>
            </p:cNvPr>
            <p:cNvSpPr txBox="1"/>
            <p:nvPr/>
          </p:nvSpPr>
          <p:spPr>
            <a:xfrm>
              <a:off x="3234632" y="5946315"/>
              <a:ext cx="3560296" cy="43659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zh-TW" altLang="en-US" sz="3200" dirty="0">
                  <a:solidFill>
                    <a:srgbClr val="15161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consolata" pitchFamily="34" charset="-120"/>
                </a:rPr>
                <a:t>儲存遊戲數據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6137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FDF7F2B-A7E3-8729-7741-38A916F74811}"/>
              </a:ext>
            </a:extLst>
          </p:cNvPr>
          <p:cNvSpPr/>
          <p:nvPr/>
        </p:nvSpPr>
        <p:spPr>
          <a:xfrm>
            <a:off x="0" y="0"/>
            <a:ext cx="1524000" cy="822960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3327FA2-CCAB-2EDE-BD39-F2B7E1DAA368}"/>
              </a:ext>
            </a:extLst>
          </p:cNvPr>
          <p:cNvSpPr txBox="1"/>
          <p:nvPr/>
        </p:nvSpPr>
        <p:spPr>
          <a:xfrm>
            <a:off x="582204" y="1603015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B173881F-2A44-7E4E-A331-4CADDFA6C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36" y="318632"/>
            <a:ext cx="1190632" cy="128438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B85076-5D7C-9164-DC78-36354FE3E0A8}"/>
              </a:ext>
            </a:extLst>
          </p:cNvPr>
          <p:cNvSpPr txBox="1"/>
          <p:nvPr/>
        </p:nvSpPr>
        <p:spPr>
          <a:xfrm>
            <a:off x="32002" y="2273044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目的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583CCE4-BA72-6BD6-0370-A78198241675}"/>
              </a:ext>
            </a:extLst>
          </p:cNvPr>
          <p:cNvSpPr txBox="1"/>
          <p:nvPr/>
        </p:nvSpPr>
        <p:spPr>
          <a:xfrm>
            <a:off x="32002" y="3414942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架構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0D8FC18-803E-FDBA-6E42-A0C86DF75936}"/>
              </a:ext>
            </a:extLst>
          </p:cNvPr>
          <p:cNvSpPr txBox="1"/>
          <p:nvPr/>
        </p:nvSpPr>
        <p:spPr>
          <a:xfrm>
            <a:off x="32002" y="4556840"/>
            <a:ext cx="143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機制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EE9ADA4-8095-CBFC-BF9D-D11963D57341}"/>
              </a:ext>
            </a:extLst>
          </p:cNvPr>
          <p:cNvSpPr txBox="1"/>
          <p:nvPr/>
        </p:nvSpPr>
        <p:spPr>
          <a:xfrm>
            <a:off x="32002" y="5698738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成果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260AEE-1D9B-CCA2-9345-13959EF8E3AA}"/>
              </a:ext>
            </a:extLst>
          </p:cNvPr>
          <p:cNvSpPr txBox="1"/>
          <p:nvPr/>
        </p:nvSpPr>
        <p:spPr>
          <a:xfrm>
            <a:off x="32002" y="6840636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總結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CB951A-D3BA-E788-2D5B-E8C6C4F05869}"/>
              </a:ext>
            </a:extLst>
          </p:cNvPr>
          <p:cNvSpPr txBox="1"/>
          <p:nvPr/>
        </p:nvSpPr>
        <p:spPr>
          <a:xfrm>
            <a:off x="582204" y="2744913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78405F7-08C6-C46F-78BA-31C131880FE3}"/>
              </a:ext>
            </a:extLst>
          </p:cNvPr>
          <p:cNvSpPr txBox="1"/>
          <p:nvPr/>
        </p:nvSpPr>
        <p:spPr>
          <a:xfrm>
            <a:off x="582204" y="3886811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0B0B615-3E34-0C74-FF2A-565F74F6C843}"/>
              </a:ext>
            </a:extLst>
          </p:cNvPr>
          <p:cNvSpPr txBox="1"/>
          <p:nvPr/>
        </p:nvSpPr>
        <p:spPr>
          <a:xfrm>
            <a:off x="582204" y="5028709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DE99807-CD70-8946-9200-F38BF97B5FE7}"/>
              </a:ext>
            </a:extLst>
          </p:cNvPr>
          <p:cNvSpPr txBox="1"/>
          <p:nvPr/>
        </p:nvSpPr>
        <p:spPr>
          <a:xfrm>
            <a:off x="582204" y="6170607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89EDAA-3F96-966E-B5D1-D35782210DFE}"/>
              </a:ext>
            </a:extLst>
          </p:cNvPr>
          <p:cNvSpPr txBox="1"/>
          <p:nvPr/>
        </p:nvSpPr>
        <p:spPr>
          <a:xfrm>
            <a:off x="582204" y="7312502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46CE4597-B77F-59A1-A73A-C7A5B112CDF0}"/>
              </a:ext>
            </a:extLst>
          </p:cNvPr>
          <p:cNvSpPr txBox="1"/>
          <p:nvPr/>
        </p:nvSpPr>
        <p:spPr>
          <a:xfrm>
            <a:off x="1678236" y="275044"/>
            <a:ext cx="420087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1"/>
              </a:lnSpc>
            </a:pPr>
            <a:r>
              <a:rPr lang="zh-TW" altLang="en-US" sz="3600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</a:rPr>
              <a:t>遊戲機制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8EC7F20-4AE5-C78B-93C9-D213C3A59077}"/>
              </a:ext>
            </a:extLst>
          </p:cNvPr>
          <p:cNvGrpSpPr/>
          <p:nvPr/>
        </p:nvGrpSpPr>
        <p:grpSpPr>
          <a:xfrm>
            <a:off x="2359853" y="3396982"/>
            <a:ext cx="11072431" cy="4201596"/>
            <a:chOff x="2702753" y="2897674"/>
            <a:chExt cx="11072431" cy="4201596"/>
          </a:xfrm>
        </p:grpSpPr>
        <p:pic>
          <p:nvPicPr>
            <p:cNvPr id="3" name="Image 0" descr="preencoded.png">
              <a:extLst>
                <a:ext uri="{FF2B5EF4-FFF2-40B4-BE49-F238E27FC236}">
                  <a16:creationId xmlns:a16="http://schemas.microsoft.com/office/drawing/2014/main" id="{C0CC64D4-2106-9401-ED90-F58FA31E8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2753" y="2897674"/>
              <a:ext cx="875348" cy="1400532"/>
            </a:xfrm>
            <a:prstGeom prst="rect">
              <a:avLst/>
            </a:prstGeom>
          </p:spPr>
        </p:pic>
        <p:pic>
          <p:nvPicPr>
            <p:cNvPr id="4" name="Image 1" descr="preencoded.png">
              <a:extLst>
                <a:ext uri="{FF2B5EF4-FFF2-40B4-BE49-F238E27FC236}">
                  <a16:creationId xmlns:a16="http://schemas.microsoft.com/office/drawing/2014/main" id="{B19720CE-7508-B226-312D-FF2434B34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02753" y="4298206"/>
              <a:ext cx="875348" cy="1400532"/>
            </a:xfrm>
            <a:prstGeom prst="rect">
              <a:avLst/>
            </a:prstGeom>
          </p:spPr>
        </p:pic>
        <p:pic>
          <p:nvPicPr>
            <p:cNvPr id="5" name="Image 2" descr="preencoded.png">
              <a:extLst>
                <a:ext uri="{FF2B5EF4-FFF2-40B4-BE49-F238E27FC236}">
                  <a16:creationId xmlns:a16="http://schemas.microsoft.com/office/drawing/2014/main" id="{C6FD3617-4E00-9D13-2E3E-E1146286C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02753" y="5698738"/>
              <a:ext cx="875348" cy="1400532"/>
            </a:xfrm>
            <a:prstGeom prst="rect">
              <a:avLst/>
            </a:prstGeom>
          </p:spPr>
        </p:pic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CEAE641B-E1BB-D0B0-2525-9FCFEA174CB5}"/>
                </a:ext>
              </a:extLst>
            </p:cNvPr>
            <p:cNvSpPr/>
            <p:nvPr/>
          </p:nvSpPr>
          <p:spPr>
            <a:xfrm>
              <a:off x="3690625" y="3244274"/>
              <a:ext cx="2188488" cy="2734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2800" b="1" dirty="0">
                  <a:solidFill>
                    <a:srgbClr val="151617"/>
                  </a:solidFill>
                  <a:latin typeface="+mn-ea"/>
                  <a:cs typeface="Montserrat Black" pitchFamily="34" charset="-120"/>
                </a:rPr>
                <a:t>擲骰子</a:t>
              </a:r>
              <a:endParaRPr lang="en-US" sz="2800" dirty="0">
                <a:latin typeface="+mn-ea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F126BDE5-F76B-53E6-3E4B-F7F12C5E1316}"/>
                </a:ext>
              </a:extLst>
            </p:cNvPr>
            <p:cNvSpPr/>
            <p:nvPr/>
          </p:nvSpPr>
          <p:spPr>
            <a:xfrm>
              <a:off x="3690625" y="3622774"/>
              <a:ext cx="9972035" cy="2800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2000" dirty="0">
                  <a:solidFill>
                    <a:srgbClr val="151617"/>
                  </a:solidFill>
                  <a:latin typeface="+mn-ea"/>
                  <a:cs typeface="Inconsolata" pitchFamily="34" charset="-120"/>
                </a:rPr>
                <a:t>以Unicode中的2680至2685的骰子字符，以隨機取值搭配延遲時間，營造擲骰子效果。</a:t>
              </a:r>
              <a:endParaRPr lang="en-US" sz="2000" dirty="0">
                <a:latin typeface="+mn-ea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E3C694AB-FF35-22E5-7FC7-BF001E9080D4}"/>
                </a:ext>
              </a:extLst>
            </p:cNvPr>
            <p:cNvSpPr/>
            <p:nvPr/>
          </p:nvSpPr>
          <p:spPr>
            <a:xfrm>
              <a:off x="3690625" y="4644806"/>
              <a:ext cx="2188488" cy="2734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2800" b="1" dirty="0">
                  <a:solidFill>
                    <a:srgbClr val="151617"/>
                  </a:solidFill>
                  <a:latin typeface="+mn-ea"/>
                  <a:cs typeface="Montserrat Black" pitchFamily="34" charset="-120"/>
                </a:rPr>
                <a:t>玩家移動</a:t>
              </a:r>
              <a:endParaRPr lang="en-US" sz="2800" dirty="0">
                <a:latin typeface="+mn-ea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F25628B9-789B-7861-6693-EA7AD38861D3}"/>
                </a:ext>
              </a:extLst>
            </p:cNvPr>
            <p:cNvSpPr/>
            <p:nvPr/>
          </p:nvSpPr>
          <p:spPr>
            <a:xfrm>
              <a:off x="3690625" y="5023305"/>
              <a:ext cx="10084559" cy="2800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2000" dirty="0">
                  <a:solidFill>
                    <a:srgbClr val="151617"/>
                  </a:solidFill>
                  <a:latin typeface="+mn-ea"/>
                  <a:cs typeface="Inconsolata" pitchFamily="34" charset="-120"/>
                </a:rPr>
                <a:t>藉由骰子結果使玩家移動到該指定位置</a:t>
              </a:r>
              <a:endParaRPr lang="en-US" sz="2000" dirty="0">
                <a:latin typeface="+mn-ea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83ECE5BA-8E9B-3B01-E131-32CBE56D408A}"/>
                </a:ext>
              </a:extLst>
            </p:cNvPr>
            <p:cNvSpPr/>
            <p:nvPr/>
          </p:nvSpPr>
          <p:spPr>
            <a:xfrm>
              <a:off x="3690625" y="6045339"/>
              <a:ext cx="2188488" cy="2734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2800" b="1" dirty="0">
                  <a:solidFill>
                    <a:srgbClr val="151617"/>
                  </a:solidFill>
                  <a:latin typeface="+mn-ea"/>
                  <a:cs typeface="Montserrat Black" pitchFamily="34" charset="-120"/>
                </a:rPr>
                <a:t>事件觸發</a:t>
              </a:r>
              <a:endParaRPr lang="en-US" sz="2800" dirty="0">
                <a:latin typeface="+mn-ea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BEF91585-89E8-B9C7-E167-0911A8A833B4}"/>
                </a:ext>
              </a:extLst>
            </p:cNvPr>
            <p:cNvSpPr/>
            <p:nvPr/>
          </p:nvSpPr>
          <p:spPr>
            <a:xfrm>
              <a:off x="3690625" y="6423838"/>
              <a:ext cx="9972035" cy="2800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2000" dirty="0">
                  <a:solidFill>
                    <a:srgbClr val="151617"/>
                  </a:solidFill>
                  <a:latin typeface="+mn-ea"/>
                  <a:cs typeface="Inconsolata" pitchFamily="34" charset="-120"/>
                </a:rPr>
                <a:t>依踩到的項目，我們需要設計相關觸發效果，包含開啟文字編輯器、移動、獎勵與懲罰。</a:t>
              </a:r>
              <a:endParaRPr lang="en-US" sz="2000" dirty="0">
                <a:latin typeface="+mn-ea"/>
              </a:endParaRPr>
            </a:p>
          </p:txBody>
        </p:sp>
      </p:grpSp>
      <p:sp>
        <p:nvSpPr>
          <p:cNvPr id="14" name="Text 1">
            <a:extLst>
              <a:ext uri="{FF2B5EF4-FFF2-40B4-BE49-F238E27FC236}">
                <a16:creationId xmlns:a16="http://schemas.microsoft.com/office/drawing/2014/main" id="{B0DF57F4-6762-B982-19EC-96DA1DEB53F6}"/>
              </a:ext>
            </a:extLst>
          </p:cNvPr>
          <p:cNvSpPr/>
          <p:nvPr/>
        </p:nvSpPr>
        <p:spPr>
          <a:xfrm>
            <a:off x="6859724" y="1313421"/>
            <a:ext cx="2188488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遊戲設計</a:t>
            </a:r>
            <a:endParaRPr lang="en-US" sz="3200" dirty="0">
              <a:latin typeface="+mn-ea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303ADA1-0036-A5FC-E1F5-A5F90622D85E}"/>
              </a:ext>
            </a:extLst>
          </p:cNvPr>
          <p:cNvSpPr txBox="1"/>
          <p:nvPr/>
        </p:nvSpPr>
        <p:spPr>
          <a:xfrm>
            <a:off x="1895070" y="1777277"/>
            <a:ext cx="121177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ea typeface="微軟正黑體" panose="020B0604030504040204" pitchFamily="34" charset="-120"/>
              </a:rPr>
              <a:t> 以常見遊戲「大富翁」為基底向外擴展，增加遊戲的機制</a:t>
            </a:r>
            <a:endParaRPr lang="en-US" altLang="zh-TW" sz="3200" dirty="0">
              <a:ea typeface="微軟正黑體" panose="020B0604030504040204" pitchFamily="34" charset="-120"/>
            </a:endParaRPr>
          </a:p>
          <a:p>
            <a:pPr algn="ctr"/>
            <a:r>
              <a:rPr lang="zh-TW" altLang="en-US" sz="3200" dirty="0">
                <a:ea typeface="微軟正黑體" panose="020B0604030504040204" pitchFamily="34" charset="-120"/>
              </a:rPr>
              <a:t>課程相關的特色機制：</a:t>
            </a:r>
            <a:r>
              <a:rPr lang="en-US" altLang="zh-TW" sz="3200" b="1" dirty="0">
                <a:ea typeface="微軟正黑體" panose="020B0604030504040204" pitchFamily="34" charset="-120"/>
              </a:rPr>
              <a:t>JMP</a:t>
            </a:r>
            <a:r>
              <a:rPr lang="zh-TW" altLang="en-US" sz="3200" b="1" dirty="0">
                <a:ea typeface="微軟正黑體" panose="020B0604030504040204" pitchFamily="34" charset="-120"/>
              </a:rPr>
              <a:t> （隨機傳送） 、</a:t>
            </a:r>
            <a:r>
              <a:rPr lang="en-US" altLang="zh-TW" sz="3200" b="1" dirty="0">
                <a:ea typeface="微軟正黑體" panose="020B0604030504040204" pitchFamily="34" charset="-120"/>
              </a:rPr>
              <a:t>BUG</a:t>
            </a:r>
            <a:r>
              <a:rPr lang="zh-TW" altLang="en-US" sz="3200" b="1" dirty="0">
                <a:ea typeface="微軟正黑體" panose="020B0604030504040204" pitchFamily="34" charset="-120"/>
              </a:rPr>
              <a:t>（選擇題型）</a:t>
            </a:r>
          </a:p>
        </p:txBody>
      </p:sp>
    </p:spTree>
    <p:extLst>
      <p:ext uri="{BB962C8B-B14F-4D97-AF65-F5344CB8AC3E}">
        <p14:creationId xmlns:p14="http://schemas.microsoft.com/office/powerpoint/2010/main" val="36288621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FDF7F2B-A7E3-8729-7741-38A916F74811}"/>
              </a:ext>
            </a:extLst>
          </p:cNvPr>
          <p:cNvSpPr/>
          <p:nvPr/>
        </p:nvSpPr>
        <p:spPr>
          <a:xfrm>
            <a:off x="0" y="0"/>
            <a:ext cx="1524000" cy="822960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3327FA2-CCAB-2EDE-BD39-F2B7E1DAA368}"/>
              </a:ext>
            </a:extLst>
          </p:cNvPr>
          <p:cNvSpPr txBox="1"/>
          <p:nvPr/>
        </p:nvSpPr>
        <p:spPr>
          <a:xfrm>
            <a:off x="582204" y="1603015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B173881F-2A44-7E4E-A331-4CADDFA6C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36" y="318632"/>
            <a:ext cx="1190632" cy="128438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B85076-5D7C-9164-DC78-36354FE3E0A8}"/>
              </a:ext>
            </a:extLst>
          </p:cNvPr>
          <p:cNvSpPr txBox="1"/>
          <p:nvPr/>
        </p:nvSpPr>
        <p:spPr>
          <a:xfrm>
            <a:off x="32002" y="2273044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目的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583CCE4-BA72-6BD6-0370-A78198241675}"/>
              </a:ext>
            </a:extLst>
          </p:cNvPr>
          <p:cNvSpPr txBox="1"/>
          <p:nvPr/>
        </p:nvSpPr>
        <p:spPr>
          <a:xfrm>
            <a:off x="32002" y="3414942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架構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0D8FC18-803E-FDBA-6E42-A0C86DF75936}"/>
              </a:ext>
            </a:extLst>
          </p:cNvPr>
          <p:cNvSpPr txBox="1"/>
          <p:nvPr/>
        </p:nvSpPr>
        <p:spPr>
          <a:xfrm>
            <a:off x="32002" y="4556840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機制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EE9ADA4-8095-CBFC-BF9D-D11963D57341}"/>
              </a:ext>
            </a:extLst>
          </p:cNvPr>
          <p:cNvSpPr txBox="1"/>
          <p:nvPr/>
        </p:nvSpPr>
        <p:spPr>
          <a:xfrm>
            <a:off x="32002" y="5667959"/>
            <a:ext cx="143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成果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260AEE-1D9B-CCA2-9345-13959EF8E3AA}"/>
              </a:ext>
            </a:extLst>
          </p:cNvPr>
          <p:cNvSpPr txBox="1"/>
          <p:nvPr/>
        </p:nvSpPr>
        <p:spPr>
          <a:xfrm>
            <a:off x="32002" y="6840636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總結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CB951A-D3BA-E788-2D5B-E8C6C4F05869}"/>
              </a:ext>
            </a:extLst>
          </p:cNvPr>
          <p:cNvSpPr txBox="1"/>
          <p:nvPr/>
        </p:nvSpPr>
        <p:spPr>
          <a:xfrm>
            <a:off x="582204" y="2744913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78405F7-08C6-C46F-78BA-31C131880FE3}"/>
              </a:ext>
            </a:extLst>
          </p:cNvPr>
          <p:cNvSpPr txBox="1"/>
          <p:nvPr/>
        </p:nvSpPr>
        <p:spPr>
          <a:xfrm>
            <a:off x="582204" y="3886811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0B0B615-3E34-0C74-FF2A-565F74F6C843}"/>
              </a:ext>
            </a:extLst>
          </p:cNvPr>
          <p:cNvSpPr txBox="1"/>
          <p:nvPr/>
        </p:nvSpPr>
        <p:spPr>
          <a:xfrm>
            <a:off x="582204" y="5028709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DE99807-CD70-8946-9200-F38BF97B5FE7}"/>
              </a:ext>
            </a:extLst>
          </p:cNvPr>
          <p:cNvSpPr txBox="1"/>
          <p:nvPr/>
        </p:nvSpPr>
        <p:spPr>
          <a:xfrm>
            <a:off x="582204" y="6170607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89EDAA-3F96-966E-B5D1-D35782210DFE}"/>
              </a:ext>
            </a:extLst>
          </p:cNvPr>
          <p:cNvSpPr txBox="1"/>
          <p:nvPr/>
        </p:nvSpPr>
        <p:spPr>
          <a:xfrm>
            <a:off x="582204" y="7312502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DBC6F2D-B6BF-FF24-B5B8-1CB4BAAA85C8}"/>
              </a:ext>
            </a:extLst>
          </p:cNvPr>
          <p:cNvGrpSpPr/>
          <p:nvPr/>
        </p:nvGrpSpPr>
        <p:grpSpPr>
          <a:xfrm>
            <a:off x="1885990" y="3484869"/>
            <a:ext cx="12276506" cy="863339"/>
            <a:chOff x="1771690" y="3458858"/>
            <a:chExt cx="12276506" cy="863339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27F22595-3F91-61B6-988E-21EB1DC16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1690" y="3466292"/>
              <a:ext cx="3076092" cy="855905"/>
            </a:xfrm>
            <a:prstGeom prst="rect">
              <a:avLst/>
            </a:prstGeom>
          </p:spPr>
        </p:pic>
        <p:pic>
          <p:nvPicPr>
            <p:cNvPr id="3" name="Image 1" descr="preencoded.png">
              <a:extLst>
                <a:ext uri="{FF2B5EF4-FFF2-40B4-BE49-F238E27FC236}">
                  <a16:creationId xmlns:a16="http://schemas.microsoft.com/office/drawing/2014/main" id="{DD5E10D8-7ACE-FC61-A342-7B545B3EE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38419" y="3466292"/>
              <a:ext cx="3076205" cy="855905"/>
            </a:xfrm>
            <a:prstGeom prst="rect">
              <a:avLst/>
            </a:prstGeom>
          </p:spPr>
        </p:pic>
        <p:pic>
          <p:nvPicPr>
            <p:cNvPr id="4" name="Image 2" descr="preencoded.png">
              <a:extLst>
                <a:ext uri="{FF2B5EF4-FFF2-40B4-BE49-F238E27FC236}">
                  <a16:creationId xmlns:a16="http://schemas.microsoft.com/office/drawing/2014/main" id="{CE82484C-D547-F27F-334C-EDBF58DE1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05261" y="3466292"/>
              <a:ext cx="3076092" cy="855905"/>
            </a:xfrm>
            <a:prstGeom prst="rect">
              <a:avLst/>
            </a:prstGeom>
          </p:spPr>
        </p:pic>
        <p:pic>
          <p:nvPicPr>
            <p:cNvPr id="5" name="Image 3" descr="preencoded.png">
              <a:extLst>
                <a:ext uri="{FF2B5EF4-FFF2-40B4-BE49-F238E27FC236}">
                  <a16:creationId xmlns:a16="http://schemas.microsoft.com/office/drawing/2014/main" id="{35EACA59-0689-0316-E1C7-F5D25DB2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71991" y="3458858"/>
              <a:ext cx="3076205" cy="855905"/>
            </a:xfrm>
            <a:prstGeom prst="rect">
              <a:avLst/>
            </a:prstGeom>
          </p:spPr>
        </p:pic>
      </p:grpSp>
      <p:sp>
        <p:nvSpPr>
          <p:cNvPr id="7" name="Google Shape;89;p13">
            <a:extLst>
              <a:ext uri="{FF2B5EF4-FFF2-40B4-BE49-F238E27FC236}">
                <a16:creationId xmlns:a16="http://schemas.microsoft.com/office/drawing/2014/main" id="{569B7107-9929-D6DC-6CF7-80CC7013A141}"/>
              </a:ext>
            </a:extLst>
          </p:cNvPr>
          <p:cNvSpPr txBox="1"/>
          <p:nvPr/>
        </p:nvSpPr>
        <p:spPr>
          <a:xfrm>
            <a:off x="1678236" y="275044"/>
            <a:ext cx="420087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1"/>
              </a:lnSpc>
            </a:pPr>
            <a:r>
              <a:rPr lang="zh-TW" altLang="en-US" sz="3600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</a:rPr>
              <a:t>研究成果</a:t>
            </a:r>
          </a:p>
        </p:txBody>
      </p:sp>
    </p:spTree>
    <p:extLst>
      <p:ext uri="{BB962C8B-B14F-4D97-AF65-F5344CB8AC3E}">
        <p14:creationId xmlns:p14="http://schemas.microsoft.com/office/powerpoint/2010/main" val="309090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FDF7F2B-A7E3-8729-7741-38A916F74811}"/>
              </a:ext>
            </a:extLst>
          </p:cNvPr>
          <p:cNvSpPr/>
          <p:nvPr/>
        </p:nvSpPr>
        <p:spPr>
          <a:xfrm>
            <a:off x="0" y="0"/>
            <a:ext cx="1524000" cy="822960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3327FA2-CCAB-2EDE-BD39-F2B7E1DAA368}"/>
              </a:ext>
            </a:extLst>
          </p:cNvPr>
          <p:cNvSpPr txBox="1"/>
          <p:nvPr/>
        </p:nvSpPr>
        <p:spPr>
          <a:xfrm>
            <a:off x="582204" y="1603015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B173881F-2A44-7E4E-A331-4CADDFA6C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36" y="318632"/>
            <a:ext cx="1190632" cy="128438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B85076-5D7C-9164-DC78-36354FE3E0A8}"/>
              </a:ext>
            </a:extLst>
          </p:cNvPr>
          <p:cNvSpPr txBox="1"/>
          <p:nvPr/>
        </p:nvSpPr>
        <p:spPr>
          <a:xfrm>
            <a:off x="32002" y="2273044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目的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583CCE4-BA72-6BD6-0370-A78198241675}"/>
              </a:ext>
            </a:extLst>
          </p:cNvPr>
          <p:cNvSpPr txBox="1"/>
          <p:nvPr/>
        </p:nvSpPr>
        <p:spPr>
          <a:xfrm>
            <a:off x="32002" y="3414942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架構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0D8FC18-803E-FDBA-6E42-A0C86DF75936}"/>
              </a:ext>
            </a:extLst>
          </p:cNvPr>
          <p:cNvSpPr txBox="1"/>
          <p:nvPr/>
        </p:nvSpPr>
        <p:spPr>
          <a:xfrm>
            <a:off x="32002" y="4556840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機制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EE9ADA4-8095-CBFC-BF9D-D11963D57341}"/>
              </a:ext>
            </a:extLst>
          </p:cNvPr>
          <p:cNvSpPr txBox="1"/>
          <p:nvPr/>
        </p:nvSpPr>
        <p:spPr>
          <a:xfrm>
            <a:off x="32002" y="5667959"/>
            <a:ext cx="143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成果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260AEE-1D9B-CCA2-9345-13959EF8E3AA}"/>
              </a:ext>
            </a:extLst>
          </p:cNvPr>
          <p:cNvSpPr txBox="1"/>
          <p:nvPr/>
        </p:nvSpPr>
        <p:spPr>
          <a:xfrm>
            <a:off x="32002" y="6840636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總結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CB951A-D3BA-E788-2D5B-E8C6C4F05869}"/>
              </a:ext>
            </a:extLst>
          </p:cNvPr>
          <p:cNvSpPr txBox="1"/>
          <p:nvPr/>
        </p:nvSpPr>
        <p:spPr>
          <a:xfrm>
            <a:off x="582204" y="2744913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78405F7-08C6-C46F-78BA-31C131880FE3}"/>
              </a:ext>
            </a:extLst>
          </p:cNvPr>
          <p:cNvSpPr txBox="1"/>
          <p:nvPr/>
        </p:nvSpPr>
        <p:spPr>
          <a:xfrm>
            <a:off x="582204" y="3886811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0B0B615-3E34-0C74-FF2A-565F74F6C843}"/>
              </a:ext>
            </a:extLst>
          </p:cNvPr>
          <p:cNvSpPr txBox="1"/>
          <p:nvPr/>
        </p:nvSpPr>
        <p:spPr>
          <a:xfrm>
            <a:off x="582204" y="5028709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DE99807-CD70-8946-9200-F38BF97B5FE7}"/>
              </a:ext>
            </a:extLst>
          </p:cNvPr>
          <p:cNvSpPr txBox="1"/>
          <p:nvPr/>
        </p:nvSpPr>
        <p:spPr>
          <a:xfrm>
            <a:off x="582204" y="6170607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89EDAA-3F96-966E-B5D1-D35782210DFE}"/>
              </a:ext>
            </a:extLst>
          </p:cNvPr>
          <p:cNvSpPr txBox="1"/>
          <p:nvPr/>
        </p:nvSpPr>
        <p:spPr>
          <a:xfrm>
            <a:off x="582204" y="7312502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DBC6F2D-B6BF-FF24-B5B8-1CB4BAAA85C8}"/>
              </a:ext>
            </a:extLst>
          </p:cNvPr>
          <p:cNvGrpSpPr/>
          <p:nvPr/>
        </p:nvGrpSpPr>
        <p:grpSpPr>
          <a:xfrm>
            <a:off x="3102432" y="270648"/>
            <a:ext cx="9526996" cy="629932"/>
            <a:chOff x="1771690" y="3458858"/>
            <a:chExt cx="12276506" cy="86334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27F22595-3F91-61B6-988E-21EB1DC16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771690" y="3466293"/>
              <a:ext cx="3076091" cy="855905"/>
            </a:xfrm>
            <a:prstGeom prst="rect">
              <a:avLst/>
            </a:prstGeom>
          </p:spPr>
        </p:pic>
        <p:pic>
          <p:nvPicPr>
            <p:cNvPr id="3" name="Image 1" descr="preencoded.png">
              <a:extLst>
                <a:ext uri="{FF2B5EF4-FFF2-40B4-BE49-F238E27FC236}">
                  <a16:creationId xmlns:a16="http://schemas.microsoft.com/office/drawing/2014/main" id="{DD5E10D8-7ACE-FC61-A342-7B545B3EE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38419" y="3466292"/>
              <a:ext cx="3076205" cy="855905"/>
            </a:xfrm>
            <a:prstGeom prst="rect">
              <a:avLst/>
            </a:prstGeom>
          </p:spPr>
        </p:pic>
        <p:pic>
          <p:nvPicPr>
            <p:cNvPr id="4" name="Image 2" descr="preencoded.png">
              <a:extLst>
                <a:ext uri="{FF2B5EF4-FFF2-40B4-BE49-F238E27FC236}">
                  <a16:creationId xmlns:a16="http://schemas.microsoft.com/office/drawing/2014/main" id="{CE82484C-D547-F27F-334C-EDBF58DE1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05261" y="3466292"/>
              <a:ext cx="3076092" cy="855905"/>
            </a:xfrm>
            <a:prstGeom prst="rect">
              <a:avLst/>
            </a:prstGeom>
          </p:spPr>
        </p:pic>
        <p:pic>
          <p:nvPicPr>
            <p:cNvPr id="5" name="Image 3" descr="preencoded.png">
              <a:extLst>
                <a:ext uri="{FF2B5EF4-FFF2-40B4-BE49-F238E27FC236}">
                  <a16:creationId xmlns:a16="http://schemas.microsoft.com/office/drawing/2014/main" id="{35EACA59-0689-0316-E1C7-F5D25DB2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71991" y="3458858"/>
              <a:ext cx="3076205" cy="855905"/>
            </a:xfrm>
            <a:prstGeom prst="rect">
              <a:avLst/>
            </a:prstGeom>
          </p:spPr>
        </p:pic>
      </p:grp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BDCA6AC5-2BC5-052D-9D8E-578D7B1574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8015" y="2536944"/>
            <a:ext cx="5002768" cy="4039791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E8C78DC0-DBE0-DD08-A597-40455CD1FAE1}"/>
              </a:ext>
            </a:extLst>
          </p:cNvPr>
          <p:cNvGrpSpPr/>
          <p:nvPr/>
        </p:nvGrpSpPr>
        <p:grpSpPr>
          <a:xfrm>
            <a:off x="1952196" y="2608119"/>
            <a:ext cx="6177071" cy="2193631"/>
            <a:chOff x="1952196" y="2608119"/>
            <a:chExt cx="6177071" cy="2193631"/>
          </a:xfrm>
        </p:grpSpPr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B07F5C6C-1927-A367-AD8D-ED729EB71698}"/>
                </a:ext>
              </a:extLst>
            </p:cNvPr>
            <p:cNvSpPr/>
            <p:nvPr/>
          </p:nvSpPr>
          <p:spPr>
            <a:xfrm>
              <a:off x="1952196" y="260811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800" b="1" dirty="0">
                  <a:solidFill>
                    <a:srgbClr val="151617"/>
                  </a:solidFill>
                  <a:latin typeface="+mn-ea"/>
                  <a:cs typeface="Montserrat Black" pitchFamily="34" charset="-120"/>
                </a:rPr>
                <a:t>註冊</a:t>
              </a:r>
              <a:endParaRPr lang="en-US" sz="2800" dirty="0">
                <a:latin typeface="+mn-ea"/>
              </a:endParaRPr>
            </a:p>
          </p:txBody>
        </p:sp>
        <p:sp>
          <p:nvSpPr>
            <p:cNvPr id="28" name="Text 2">
              <a:extLst>
                <a:ext uri="{FF2B5EF4-FFF2-40B4-BE49-F238E27FC236}">
                  <a16:creationId xmlns:a16="http://schemas.microsoft.com/office/drawing/2014/main" id="{BB5A2C0B-8E03-69A2-4106-1C88643B4268}"/>
                </a:ext>
              </a:extLst>
            </p:cNvPr>
            <p:cNvSpPr/>
            <p:nvPr/>
          </p:nvSpPr>
          <p:spPr>
            <a:xfrm>
              <a:off x="2224719" y="3189734"/>
              <a:ext cx="590454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dirty="0" err="1">
                  <a:solidFill>
                    <a:srgbClr val="151617"/>
                  </a:solidFill>
                  <a:latin typeface="+mn-ea"/>
                  <a:cs typeface="Inconsolata" pitchFamily="34" charset="-120"/>
                </a:rPr>
                <a:t>使用者首次使用系統時,必須先完成註冊程序</a:t>
              </a:r>
              <a:endParaRPr lang="en-US" sz="1750" dirty="0">
                <a:latin typeface="+mn-ea"/>
              </a:endParaRPr>
            </a:p>
          </p:txBody>
        </p:sp>
        <p:sp>
          <p:nvSpPr>
            <p:cNvPr id="36" name="Text 3">
              <a:extLst>
                <a:ext uri="{FF2B5EF4-FFF2-40B4-BE49-F238E27FC236}">
                  <a16:creationId xmlns:a16="http://schemas.microsoft.com/office/drawing/2014/main" id="{369339A6-F87D-C036-7A64-EEF688E6062E}"/>
                </a:ext>
              </a:extLst>
            </p:cNvPr>
            <p:cNvSpPr/>
            <p:nvPr/>
          </p:nvSpPr>
          <p:spPr>
            <a:xfrm>
              <a:off x="2224719" y="3756710"/>
              <a:ext cx="590454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dirty="0" err="1">
                  <a:solidFill>
                    <a:srgbClr val="151617"/>
                  </a:solidFill>
                  <a:latin typeface="+mn-ea"/>
                  <a:cs typeface="Inconsolata" pitchFamily="34" charset="-120"/>
                </a:rPr>
                <a:t>註冊過程包括填寫個人基本資訊,設定帳號密碼等</a:t>
              </a:r>
              <a:endParaRPr lang="en-US" sz="1750" dirty="0">
                <a:latin typeface="+mn-ea"/>
              </a:endParaRPr>
            </a:p>
          </p:txBody>
        </p:sp>
        <p:sp>
          <p:nvSpPr>
            <p:cNvPr id="37" name="Text 4">
              <a:extLst>
                <a:ext uri="{FF2B5EF4-FFF2-40B4-BE49-F238E27FC236}">
                  <a16:creationId xmlns:a16="http://schemas.microsoft.com/office/drawing/2014/main" id="{B0A5B233-CB61-F36D-83BE-AD81B0B4AAF7}"/>
                </a:ext>
              </a:extLst>
            </p:cNvPr>
            <p:cNvSpPr/>
            <p:nvPr/>
          </p:nvSpPr>
          <p:spPr>
            <a:xfrm>
              <a:off x="2224719" y="4323686"/>
              <a:ext cx="590454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dirty="0" err="1">
                  <a:solidFill>
                    <a:srgbClr val="151617"/>
                  </a:solidFill>
                  <a:latin typeface="+mn-ea"/>
                  <a:cs typeface="Inconsolata" pitchFamily="34" charset="-120"/>
                </a:rPr>
                <a:t>完成註冊後,即可正式登入系統並使用各項功能</a:t>
              </a:r>
              <a:endParaRPr lang="en-US" sz="1750" dirty="0">
                <a:latin typeface="+mn-ea"/>
              </a:endParaRPr>
            </a:p>
          </p:txBody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BFC78528-C977-7584-38A8-5C5648839C9B}"/>
                </a:ext>
              </a:extLst>
            </p:cNvPr>
            <p:cNvSpPr/>
            <p:nvPr/>
          </p:nvSpPr>
          <p:spPr>
            <a:xfrm>
              <a:off x="2075725" y="3031813"/>
              <a:ext cx="45719" cy="1769937"/>
            </a:xfrm>
            <a:prstGeom prst="rect">
              <a:avLst/>
            </a:prstGeom>
            <a:solidFill>
              <a:srgbClr val="151617"/>
            </a:solidFill>
            <a:ln/>
          </p:spPr>
          <p:txBody>
            <a:bodyPr/>
            <a:lstStyle/>
            <a:p>
              <a:endParaRPr lang="zh-TW" altLang="en-US">
                <a:latin typeface="+mn-ea"/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60C7C155-86AD-8E8F-6CE2-4D8D87C714E9}"/>
              </a:ext>
            </a:extLst>
          </p:cNvPr>
          <p:cNvGrpSpPr/>
          <p:nvPr/>
        </p:nvGrpSpPr>
        <p:grpSpPr>
          <a:xfrm>
            <a:off x="1952196" y="5103764"/>
            <a:ext cx="6177071" cy="1306949"/>
            <a:chOff x="1952196" y="5103764"/>
            <a:chExt cx="6177071" cy="1306949"/>
          </a:xfrm>
        </p:grpSpPr>
        <p:sp>
          <p:nvSpPr>
            <p:cNvPr id="38" name="Text 5">
              <a:extLst>
                <a:ext uri="{FF2B5EF4-FFF2-40B4-BE49-F238E27FC236}">
                  <a16:creationId xmlns:a16="http://schemas.microsoft.com/office/drawing/2014/main" id="{EB8FA903-AFD3-B8A4-8BF9-F81F5A798AB6}"/>
                </a:ext>
              </a:extLst>
            </p:cNvPr>
            <p:cNvSpPr/>
            <p:nvPr/>
          </p:nvSpPr>
          <p:spPr>
            <a:xfrm>
              <a:off x="1952196" y="5103764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800" b="1" dirty="0">
                  <a:solidFill>
                    <a:srgbClr val="151617"/>
                  </a:solidFill>
                  <a:latin typeface="+mn-ea"/>
                  <a:cs typeface="Montserrat Black" pitchFamily="34" charset="-120"/>
                </a:rPr>
                <a:t>登入</a:t>
              </a:r>
              <a:endParaRPr lang="en-US" sz="2800" dirty="0">
                <a:latin typeface="+mn-ea"/>
              </a:endParaRPr>
            </a:p>
          </p:txBody>
        </p:sp>
        <p:sp>
          <p:nvSpPr>
            <p:cNvPr id="39" name="Text 6">
              <a:extLst>
                <a:ext uri="{FF2B5EF4-FFF2-40B4-BE49-F238E27FC236}">
                  <a16:creationId xmlns:a16="http://schemas.microsoft.com/office/drawing/2014/main" id="{1118DBCB-4D62-A7A1-BB04-A7E4AB37BD8C}"/>
                </a:ext>
              </a:extLst>
            </p:cNvPr>
            <p:cNvSpPr/>
            <p:nvPr/>
          </p:nvSpPr>
          <p:spPr>
            <a:xfrm>
              <a:off x="2224719" y="5684908"/>
              <a:ext cx="5904548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dirty="0" err="1">
                  <a:solidFill>
                    <a:srgbClr val="151617"/>
                  </a:solidFill>
                  <a:latin typeface="+mn-ea"/>
                  <a:cs typeface="Inconsolata" pitchFamily="34" charset="-120"/>
                </a:rPr>
                <a:t>使用者輸入帳號密碼登入,如有錯誤會收到「登入失敗」提示</a:t>
              </a:r>
              <a:endParaRPr lang="en-US" sz="1750" dirty="0">
                <a:latin typeface="+mn-ea"/>
              </a:endParaRPr>
            </a:p>
          </p:txBody>
        </p:sp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BABDD0B-0C56-16B7-E3D2-B19EEACA414F}"/>
                </a:ext>
              </a:extLst>
            </p:cNvPr>
            <p:cNvSpPr/>
            <p:nvPr/>
          </p:nvSpPr>
          <p:spPr>
            <a:xfrm>
              <a:off x="2075726" y="5525744"/>
              <a:ext cx="45719" cy="725667"/>
            </a:xfrm>
            <a:prstGeom prst="rect">
              <a:avLst/>
            </a:prstGeom>
            <a:solidFill>
              <a:srgbClr val="151617"/>
            </a:solidFill>
            <a:ln/>
          </p:spPr>
          <p:txBody>
            <a:bodyPr/>
            <a:lstStyle/>
            <a:p>
              <a:endParaRPr lang="zh-TW" altLang="en-US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640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FDF7F2B-A7E3-8729-7741-38A916F74811}"/>
              </a:ext>
            </a:extLst>
          </p:cNvPr>
          <p:cNvSpPr/>
          <p:nvPr/>
        </p:nvSpPr>
        <p:spPr>
          <a:xfrm>
            <a:off x="0" y="0"/>
            <a:ext cx="1524000" cy="822960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3327FA2-CCAB-2EDE-BD39-F2B7E1DAA368}"/>
              </a:ext>
            </a:extLst>
          </p:cNvPr>
          <p:cNvSpPr txBox="1"/>
          <p:nvPr/>
        </p:nvSpPr>
        <p:spPr>
          <a:xfrm>
            <a:off x="582204" y="1603015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B173881F-2A44-7E4E-A331-4CADDFA6C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36" y="318632"/>
            <a:ext cx="1190632" cy="128438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B85076-5D7C-9164-DC78-36354FE3E0A8}"/>
              </a:ext>
            </a:extLst>
          </p:cNvPr>
          <p:cNvSpPr txBox="1"/>
          <p:nvPr/>
        </p:nvSpPr>
        <p:spPr>
          <a:xfrm>
            <a:off x="32002" y="2273044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目的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583CCE4-BA72-6BD6-0370-A78198241675}"/>
              </a:ext>
            </a:extLst>
          </p:cNvPr>
          <p:cNvSpPr txBox="1"/>
          <p:nvPr/>
        </p:nvSpPr>
        <p:spPr>
          <a:xfrm>
            <a:off x="32002" y="3414942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架構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0D8FC18-803E-FDBA-6E42-A0C86DF75936}"/>
              </a:ext>
            </a:extLst>
          </p:cNvPr>
          <p:cNvSpPr txBox="1"/>
          <p:nvPr/>
        </p:nvSpPr>
        <p:spPr>
          <a:xfrm>
            <a:off x="32002" y="4556840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機制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EE9ADA4-8095-CBFC-BF9D-D11963D57341}"/>
              </a:ext>
            </a:extLst>
          </p:cNvPr>
          <p:cNvSpPr txBox="1"/>
          <p:nvPr/>
        </p:nvSpPr>
        <p:spPr>
          <a:xfrm>
            <a:off x="32002" y="5667959"/>
            <a:ext cx="143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成果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260AEE-1D9B-CCA2-9345-13959EF8E3AA}"/>
              </a:ext>
            </a:extLst>
          </p:cNvPr>
          <p:cNvSpPr txBox="1"/>
          <p:nvPr/>
        </p:nvSpPr>
        <p:spPr>
          <a:xfrm>
            <a:off x="32002" y="6840636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總結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CB951A-D3BA-E788-2D5B-E8C6C4F05869}"/>
              </a:ext>
            </a:extLst>
          </p:cNvPr>
          <p:cNvSpPr txBox="1"/>
          <p:nvPr/>
        </p:nvSpPr>
        <p:spPr>
          <a:xfrm>
            <a:off x="582204" y="2744913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78405F7-08C6-C46F-78BA-31C131880FE3}"/>
              </a:ext>
            </a:extLst>
          </p:cNvPr>
          <p:cNvSpPr txBox="1"/>
          <p:nvPr/>
        </p:nvSpPr>
        <p:spPr>
          <a:xfrm>
            <a:off x="582204" y="3886811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0B0B615-3E34-0C74-FF2A-565F74F6C843}"/>
              </a:ext>
            </a:extLst>
          </p:cNvPr>
          <p:cNvSpPr txBox="1"/>
          <p:nvPr/>
        </p:nvSpPr>
        <p:spPr>
          <a:xfrm>
            <a:off x="582204" y="5028709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DE99807-CD70-8946-9200-F38BF97B5FE7}"/>
              </a:ext>
            </a:extLst>
          </p:cNvPr>
          <p:cNvSpPr txBox="1"/>
          <p:nvPr/>
        </p:nvSpPr>
        <p:spPr>
          <a:xfrm>
            <a:off x="582204" y="6170607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89EDAA-3F96-966E-B5D1-D35782210DFE}"/>
              </a:ext>
            </a:extLst>
          </p:cNvPr>
          <p:cNvSpPr txBox="1"/>
          <p:nvPr/>
        </p:nvSpPr>
        <p:spPr>
          <a:xfrm>
            <a:off x="582204" y="7312502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DBC6F2D-B6BF-FF24-B5B8-1CB4BAAA85C8}"/>
              </a:ext>
            </a:extLst>
          </p:cNvPr>
          <p:cNvGrpSpPr/>
          <p:nvPr/>
        </p:nvGrpSpPr>
        <p:grpSpPr>
          <a:xfrm>
            <a:off x="3102432" y="270648"/>
            <a:ext cx="9526996" cy="629932"/>
            <a:chOff x="1771690" y="3458858"/>
            <a:chExt cx="12276506" cy="86334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27F22595-3F91-61B6-988E-21EB1DC16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1690" y="3466293"/>
              <a:ext cx="3076091" cy="855905"/>
            </a:xfrm>
            <a:prstGeom prst="rect">
              <a:avLst/>
            </a:prstGeom>
          </p:spPr>
        </p:pic>
        <p:pic>
          <p:nvPicPr>
            <p:cNvPr id="3" name="Image 1" descr="preencoded.png">
              <a:extLst>
                <a:ext uri="{FF2B5EF4-FFF2-40B4-BE49-F238E27FC236}">
                  <a16:creationId xmlns:a16="http://schemas.microsoft.com/office/drawing/2014/main" id="{DD5E10D8-7ACE-FC61-A342-7B545B3EE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838419" y="3466292"/>
              <a:ext cx="3076205" cy="855905"/>
            </a:xfrm>
            <a:prstGeom prst="rect">
              <a:avLst/>
            </a:prstGeom>
          </p:spPr>
        </p:pic>
        <p:pic>
          <p:nvPicPr>
            <p:cNvPr id="4" name="Image 2" descr="preencoded.png">
              <a:extLst>
                <a:ext uri="{FF2B5EF4-FFF2-40B4-BE49-F238E27FC236}">
                  <a16:creationId xmlns:a16="http://schemas.microsoft.com/office/drawing/2014/main" id="{CE82484C-D547-F27F-334C-EDBF58DE1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05261" y="3466292"/>
              <a:ext cx="3076092" cy="855905"/>
            </a:xfrm>
            <a:prstGeom prst="rect">
              <a:avLst/>
            </a:prstGeom>
          </p:spPr>
        </p:pic>
        <p:pic>
          <p:nvPicPr>
            <p:cNvPr id="5" name="Image 3" descr="preencoded.png">
              <a:extLst>
                <a:ext uri="{FF2B5EF4-FFF2-40B4-BE49-F238E27FC236}">
                  <a16:creationId xmlns:a16="http://schemas.microsoft.com/office/drawing/2014/main" id="{35EACA59-0689-0316-E1C7-F5D25DB2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71991" y="3458858"/>
              <a:ext cx="3076205" cy="855905"/>
            </a:xfrm>
            <a:prstGeom prst="rect">
              <a:avLst/>
            </a:prstGeom>
          </p:spPr>
        </p:pic>
      </p:grpSp>
      <p:sp>
        <p:nvSpPr>
          <p:cNvPr id="7" name="Shape 1">
            <a:extLst>
              <a:ext uri="{FF2B5EF4-FFF2-40B4-BE49-F238E27FC236}">
                <a16:creationId xmlns:a16="http://schemas.microsoft.com/office/drawing/2014/main" id="{237A33C7-D514-6794-4C6A-1B9D62B36502}"/>
              </a:ext>
            </a:extLst>
          </p:cNvPr>
          <p:cNvSpPr/>
          <p:nvPr/>
        </p:nvSpPr>
        <p:spPr>
          <a:xfrm>
            <a:off x="8702950" y="263348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+mn-ea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68E2372-871E-94E2-6A86-3E509EEC65F5}"/>
              </a:ext>
            </a:extLst>
          </p:cNvPr>
          <p:cNvSpPr/>
          <p:nvPr/>
        </p:nvSpPr>
        <p:spPr>
          <a:xfrm>
            <a:off x="8886901" y="2780480"/>
            <a:ext cx="14228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1</a:t>
            </a:r>
            <a:endParaRPr lang="en-US" sz="3200" dirty="0">
              <a:latin typeface="+mn-ea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6FE4312-AE5C-A226-0883-D39C757A8713}"/>
              </a:ext>
            </a:extLst>
          </p:cNvPr>
          <p:cNvSpPr/>
          <p:nvPr/>
        </p:nvSpPr>
        <p:spPr>
          <a:xfrm>
            <a:off x="9440368" y="28112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三個難度等級</a:t>
            </a:r>
            <a:endParaRPr lang="en-US" sz="3200" dirty="0">
              <a:latin typeface="+mn-ea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DAC26E4-C161-4A66-A11F-ABC883DB82A7}"/>
              </a:ext>
            </a:extLst>
          </p:cNvPr>
          <p:cNvSpPr/>
          <p:nvPr/>
        </p:nvSpPr>
        <p:spPr>
          <a:xfrm>
            <a:off x="9440369" y="3392387"/>
            <a:ext cx="40531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易、中、難</a:t>
            </a:r>
            <a:endParaRPr lang="en-US" sz="2400" dirty="0">
              <a:latin typeface="+mn-ea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F1A228E2-8B30-A82B-FD34-A8C2350EE4CE}"/>
              </a:ext>
            </a:extLst>
          </p:cNvPr>
          <p:cNvSpPr/>
          <p:nvPr/>
        </p:nvSpPr>
        <p:spPr>
          <a:xfrm>
            <a:off x="8702950" y="4059499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+mn-ea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8BB7FFD-C988-97C6-FB4B-380E87C301F3}"/>
              </a:ext>
            </a:extLst>
          </p:cNvPr>
          <p:cNvSpPr/>
          <p:nvPr/>
        </p:nvSpPr>
        <p:spPr>
          <a:xfrm>
            <a:off x="8854635" y="4209214"/>
            <a:ext cx="2069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2</a:t>
            </a:r>
            <a:endParaRPr lang="en-US" sz="3200" dirty="0">
              <a:latin typeface="+mn-ea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E20C633-619B-61E6-CCFF-B0CE5BA8636F}"/>
              </a:ext>
            </a:extLst>
          </p:cNvPr>
          <p:cNvSpPr/>
          <p:nvPr/>
        </p:nvSpPr>
        <p:spPr>
          <a:xfrm>
            <a:off x="9440368" y="4237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根據實力選擇</a:t>
            </a:r>
            <a:endParaRPr lang="en-US" sz="3200" dirty="0">
              <a:latin typeface="+mn-ea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A884CB21-7054-D65C-32B0-BD96A10521E4}"/>
              </a:ext>
            </a:extLst>
          </p:cNvPr>
          <p:cNvSpPr/>
          <p:nvPr/>
        </p:nvSpPr>
        <p:spPr>
          <a:xfrm>
            <a:off x="9440369" y="4818399"/>
            <a:ext cx="40531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玩家可自選適合的難度</a:t>
            </a:r>
            <a:endParaRPr lang="en-US" sz="2400" dirty="0">
              <a:latin typeface="+mn-ea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D7C905B6-277C-20F5-BDEF-69149136158C}"/>
              </a:ext>
            </a:extLst>
          </p:cNvPr>
          <p:cNvSpPr/>
          <p:nvPr/>
        </p:nvSpPr>
        <p:spPr>
          <a:xfrm>
            <a:off x="8702950" y="5485511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+mn-ea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E174969-82B7-4494-4B22-94BD7B84FEDC}"/>
              </a:ext>
            </a:extLst>
          </p:cNvPr>
          <p:cNvSpPr/>
          <p:nvPr/>
        </p:nvSpPr>
        <p:spPr>
          <a:xfrm>
            <a:off x="8853564" y="5622475"/>
            <a:ext cx="20895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3</a:t>
            </a:r>
            <a:endParaRPr lang="en-US" sz="3200" dirty="0">
              <a:latin typeface="+mn-ea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7D363FD6-284B-07AD-D9AC-F72BF35C8085}"/>
              </a:ext>
            </a:extLst>
          </p:cNvPr>
          <p:cNvSpPr/>
          <p:nvPr/>
        </p:nvSpPr>
        <p:spPr>
          <a:xfrm>
            <a:off x="9440368" y="56632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滿足不同需求</a:t>
            </a:r>
            <a:endParaRPr lang="en-US" sz="3200" dirty="0">
              <a:latin typeface="+mn-ea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099338E9-84A3-A56E-2AE5-6FCF52A4AA21}"/>
              </a:ext>
            </a:extLst>
          </p:cNvPr>
          <p:cNvSpPr/>
          <p:nvPr/>
        </p:nvSpPr>
        <p:spPr>
          <a:xfrm>
            <a:off x="9440369" y="6244410"/>
            <a:ext cx="40531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照顧各程度學生的學習需求</a:t>
            </a:r>
            <a:endParaRPr lang="en-US" sz="2400" dirty="0">
              <a:latin typeface="+mn-ea"/>
            </a:endParaRP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233AAF64-DC75-213E-4897-63ABE5B514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7304" y="2823944"/>
            <a:ext cx="6244709" cy="331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136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FDF7F2B-A7E3-8729-7741-38A916F74811}"/>
              </a:ext>
            </a:extLst>
          </p:cNvPr>
          <p:cNvSpPr/>
          <p:nvPr/>
        </p:nvSpPr>
        <p:spPr>
          <a:xfrm>
            <a:off x="0" y="0"/>
            <a:ext cx="1524000" cy="822960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3327FA2-CCAB-2EDE-BD39-F2B7E1DAA368}"/>
              </a:ext>
            </a:extLst>
          </p:cNvPr>
          <p:cNvSpPr txBox="1"/>
          <p:nvPr/>
        </p:nvSpPr>
        <p:spPr>
          <a:xfrm>
            <a:off x="582204" y="1603015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B173881F-2A44-7E4E-A331-4CADDFA6C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36" y="318632"/>
            <a:ext cx="1190632" cy="128438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B85076-5D7C-9164-DC78-36354FE3E0A8}"/>
              </a:ext>
            </a:extLst>
          </p:cNvPr>
          <p:cNvSpPr txBox="1"/>
          <p:nvPr/>
        </p:nvSpPr>
        <p:spPr>
          <a:xfrm>
            <a:off x="32002" y="2273044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目的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583CCE4-BA72-6BD6-0370-A78198241675}"/>
              </a:ext>
            </a:extLst>
          </p:cNvPr>
          <p:cNvSpPr txBox="1"/>
          <p:nvPr/>
        </p:nvSpPr>
        <p:spPr>
          <a:xfrm>
            <a:off x="32002" y="3414942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架構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0D8FC18-803E-FDBA-6E42-A0C86DF75936}"/>
              </a:ext>
            </a:extLst>
          </p:cNvPr>
          <p:cNvSpPr txBox="1"/>
          <p:nvPr/>
        </p:nvSpPr>
        <p:spPr>
          <a:xfrm>
            <a:off x="32002" y="4556840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機制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EE9ADA4-8095-CBFC-BF9D-D11963D57341}"/>
              </a:ext>
            </a:extLst>
          </p:cNvPr>
          <p:cNvSpPr txBox="1"/>
          <p:nvPr/>
        </p:nvSpPr>
        <p:spPr>
          <a:xfrm>
            <a:off x="32002" y="5667959"/>
            <a:ext cx="143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成果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260AEE-1D9B-CCA2-9345-13959EF8E3AA}"/>
              </a:ext>
            </a:extLst>
          </p:cNvPr>
          <p:cNvSpPr txBox="1"/>
          <p:nvPr/>
        </p:nvSpPr>
        <p:spPr>
          <a:xfrm>
            <a:off x="32002" y="6840636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總結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CB951A-D3BA-E788-2D5B-E8C6C4F05869}"/>
              </a:ext>
            </a:extLst>
          </p:cNvPr>
          <p:cNvSpPr txBox="1"/>
          <p:nvPr/>
        </p:nvSpPr>
        <p:spPr>
          <a:xfrm>
            <a:off x="582204" y="2744913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78405F7-08C6-C46F-78BA-31C131880FE3}"/>
              </a:ext>
            </a:extLst>
          </p:cNvPr>
          <p:cNvSpPr txBox="1"/>
          <p:nvPr/>
        </p:nvSpPr>
        <p:spPr>
          <a:xfrm>
            <a:off x="582204" y="3886811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0B0B615-3E34-0C74-FF2A-565F74F6C843}"/>
              </a:ext>
            </a:extLst>
          </p:cNvPr>
          <p:cNvSpPr txBox="1"/>
          <p:nvPr/>
        </p:nvSpPr>
        <p:spPr>
          <a:xfrm>
            <a:off x="582204" y="5028709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DE99807-CD70-8946-9200-F38BF97B5FE7}"/>
              </a:ext>
            </a:extLst>
          </p:cNvPr>
          <p:cNvSpPr txBox="1"/>
          <p:nvPr/>
        </p:nvSpPr>
        <p:spPr>
          <a:xfrm>
            <a:off x="582204" y="6170607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89EDAA-3F96-966E-B5D1-D35782210DFE}"/>
              </a:ext>
            </a:extLst>
          </p:cNvPr>
          <p:cNvSpPr txBox="1"/>
          <p:nvPr/>
        </p:nvSpPr>
        <p:spPr>
          <a:xfrm>
            <a:off x="582204" y="7312502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DBC6F2D-B6BF-FF24-B5B8-1CB4BAAA85C8}"/>
              </a:ext>
            </a:extLst>
          </p:cNvPr>
          <p:cNvGrpSpPr/>
          <p:nvPr/>
        </p:nvGrpSpPr>
        <p:grpSpPr>
          <a:xfrm>
            <a:off x="3102432" y="270648"/>
            <a:ext cx="9526996" cy="629932"/>
            <a:chOff x="1771690" y="3458858"/>
            <a:chExt cx="12276506" cy="86334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27F22595-3F91-61B6-988E-21EB1DC16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1690" y="3466293"/>
              <a:ext cx="3076091" cy="855905"/>
            </a:xfrm>
            <a:prstGeom prst="rect">
              <a:avLst/>
            </a:prstGeom>
          </p:spPr>
        </p:pic>
        <p:pic>
          <p:nvPicPr>
            <p:cNvPr id="3" name="Image 1" descr="preencoded.png">
              <a:extLst>
                <a:ext uri="{FF2B5EF4-FFF2-40B4-BE49-F238E27FC236}">
                  <a16:creationId xmlns:a16="http://schemas.microsoft.com/office/drawing/2014/main" id="{DD5E10D8-7ACE-FC61-A342-7B545B3EE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38419" y="3466292"/>
              <a:ext cx="3076205" cy="855905"/>
            </a:xfrm>
            <a:prstGeom prst="rect">
              <a:avLst/>
            </a:prstGeom>
          </p:spPr>
        </p:pic>
        <p:pic>
          <p:nvPicPr>
            <p:cNvPr id="4" name="Image 2" descr="preencoded.png">
              <a:extLst>
                <a:ext uri="{FF2B5EF4-FFF2-40B4-BE49-F238E27FC236}">
                  <a16:creationId xmlns:a16="http://schemas.microsoft.com/office/drawing/2014/main" id="{CE82484C-D547-F27F-334C-EDBF58DE1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905261" y="3466292"/>
              <a:ext cx="3076092" cy="855905"/>
            </a:xfrm>
            <a:prstGeom prst="rect">
              <a:avLst/>
            </a:prstGeom>
          </p:spPr>
        </p:pic>
        <p:pic>
          <p:nvPicPr>
            <p:cNvPr id="5" name="Image 3" descr="preencoded.png">
              <a:extLst>
                <a:ext uri="{FF2B5EF4-FFF2-40B4-BE49-F238E27FC236}">
                  <a16:creationId xmlns:a16="http://schemas.microsoft.com/office/drawing/2014/main" id="{35EACA59-0689-0316-E1C7-F5D25DB2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71991" y="3458858"/>
              <a:ext cx="3076205" cy="855905"/>
            </a:xfrm>
            <a:prstGeom prst="rect">
              <a:avLst/>
            </a:prstGeom>
          </p:spPr>
        </p:pic>
      </p:grpSp>
      <p:sp>
        <p:nvSpPr>
          <p:cNvPr id="8" name="Shape 1">
            <a:extLst>
              <a:ext uri="{FF2B5EF4-FFF2-40B4-BE49-F238E27FC236}">
                <a16:creationId xmlns:a16="http://schemas.microsoft.com/office/drawing/2014/main" id="{1942EAF6-4115-3A8F-F1D8-C518E9CF48FB}"/>
              </a:ext>
            </a:extLst>
          </p:cNvPr>
          <p:cNvSpPr/>
          <p:nvPr/>
        </p:nvSpPr>
        <p:spPr>
          <a:xfrm>
            <a:off x="2074255" y="3685210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+mn-ea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7B559B3-A0CB-7516-3126-E1957C572FEE}"/>
              </a:ext>
            </a:extLst>
          </p:cNvPr>
          <p:cNvSpPr/>
          <p:nvPr/>
        </p:nvSpPr>
        <p:spPr>
          <a:xfrm>
            <a:off x="2258206" y="3832202"/>
            <a:ext cx="14228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1</a:t>
            </a:r>
            <a:endParaRPr lang="en-US" sz="3200" dirty="0">
              <a:latin typeface="+mn-ea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E95868B-431B-0372-28DE-E9B290EC4607}"/>
              </a:ext>
            </a:extLst>
          </p:cNvPr>
          <p:cNvSpPr/>
          <p:nvPr/>
        </p:nvSpPr>
        <p:spPr>
          <a:xfrm>
            <a:off x="2811673" y="38629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zh-TW" alt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玩家資訊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5B7C224-7848-E438-C574-79339A9C18DD}"/>
              </a:ext>
            </a:extLst>
          </p:cNvPr>
          <p:cNvSpPr/>
          <p:nvPr/>
        </p:nvSpPr>
        <p:spPr>
          <a:xfrm>
            <a:off x="2811674" y="4444109"/>
            <a:ext cx="40531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zh-TW" altLang="en-US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包含名稱、角色及資產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D077979-6EE2-2643-8E51-5444FFAB6074}"/>
              </a:ext>
            </a:extLst>
          </p:cNvPr>
          <p:cNvSpPr/>
          <p:nvPr/>
        </p:nvSpPr>
        <p:spPr>
          <a:xfrm>
            <a:off x="2074255" y="5111221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+mn-ea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61F2A7C-AED8-31D8-8F63-099F2D1EAFB6}"/>
              </a:ext>
            </a:extLst>
          </p:cNvPr>
          <p:cNvSpPr/>
          <p:nvPr/>
        </p:nvSpPr>
        <p:spPr>
          <a:xfrm>
            <a:off x="2225940" y="5260936"/>
            <a:ext cx="2069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2</a:t>
            </a:r>
            <a:endParaRPr lang="en-US" sz="3200" dirty="0">
              <a:latin typeface="+mn-ea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1C00521-B079-2BBB-BE25-8F6E2819AB0D}"/>
              </a:ext>
            </a:extLst>
          </p:cNvPr>
          <p:cNvSpPr/>
          <p:nvPr/>
        </p:nvSpPr>
        <p:spPr>
          <a:xfrm>
            <a:off x="2811673" y="52889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zh-TW" alt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四角地圖設計</a:t>
            </a:r>
            <a:endParaRPr lang="en-US" sz="3200" dirty="0">
              <a:latin typeface="+mn-ea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964A463-AEA0-CFE9-40DC-47CBB815977F}"/>
              </a:ext>
            </a:extLst>
          </p:cNvPr>
          <p:cNvSpPr/>
          <p:nvPr/>
        </p:nvSpPr>
        <p:spPr>
          <a:xfrm>
            <a:off x="2811674" y="5870121"/>
            <a:ext cx="40531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zh-TW" altLang="en-US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起點、</a:t>
            </a:r>
            <a:r>
              <a:rPr lang="en-US" altLang="zh-TW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BUG</a:t>
            </a:r>
            <a:r>
              <a:rPr lang="zh-TW" altLang="en-US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、監獄、</a:t>
            </a:r>
            <a:r>
              <a:rPr lang="en-US" altLang="zh-TW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JMP</a:t>
            </a:r>
            <a:endParaRPr lang="zh-TW" altLang="en-US" sz="2400" dirty="0">
              <a:solidFill>
                <a:srgbClr val="151617"/>
              </a:solidFill>
              <a:latin typeface="+mn-ea"/>
              <a:cs typeface="Inconsolata" pitchFamily="34" charset="-120"/>
            </a:endParaRPr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A3DF2502-D623-F43C-2455-1884629DBE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0158" y="1291255"/>
            <a:ext cx="6560008" cy="6531169"/>
          </a:xfrm>
          <a:prstGeom prst="rect">
            <a:avLst/>
          </a:prstGeom>
        </p:spPr>
      </p:pic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42DE2698-DA3A-4047-BC61-404F44CF04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6204" y="1635957"/>
            <a:ext cx="3898230" cy="161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19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FDF7F2B-A7E3-8729-7741-38A916F74811}"/>
              </a:ext>
            </a:extLst>
          </p:cNvPr>
          <p:cNvSpPr/>
          <p:nvPr/>
        </p:nvSpPr>
        <p:spPr>
          <a:xfrm>
            <a:off x="0" y="0"/>
            <a:ext cx="1524000" cy="822960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3327FA2-CCAB-2EDE-BD39-F2B7E1DAA368}"/>
              </a:ext>
            </a:extLst>
          </p:cNvPr>
          <p:cNvSpPr txBox="1"/>
          <p:nvPr/>
        </p:nvSpPr>
        <p:spPr>
          <a:xfrm>
            <a:off x="582204" y="1603015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B173881F-2A44-7E4E-A331-4CADDFA6C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36" y="318632"/>
            <a:ext cx="1190632" cy="128438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B85076-5D7C-9164-DC78-36354FE3E0A8}"/>
              </a:ext>
            </a:extLst>
          </p:cNvPr>
          <p:cNvSpPr txBox="1"/>
          <p:nvPr/>
        </p:nvSpPr>
        <p:spPr>
          <a:xfrm>
            <a:off x="32002" y="2273044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目的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583CCE4-BA72-6BD6-0370-A78198241675}"/>
              </a:ext>
            </a:extLst>
          </p:cNvPr>
          <p:cNvSpPr txBox="1"/>
          <p:nvPr/>
        </p:nvSpPr>
        <p:spPr>
          <a:xfrm>
            <a:off x="32002" y="3414942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架構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0D8FC18-803E-FDBA-6E42-A0C86DF75936}"/>
              </a:ext>
            </a:extLst>
          </p:cNvPr>
          <p:cNvSpPr txBox="1"/>
          <p:nvPr/>
        </p:nvSpPr>
        <p:spPr>
          <a:xfrm>
            <a:off x="32002" y="4556840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機制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EE9ADA4-8095-CBFC-BF9D-D11963D57341}"/>
              </a:ext>
            </a:extLst>
          </p:cNvPr>
          <p:cNvSpPr txBox="1"/>
          <p:nvPr/>
        </p:nvSpPr>
        <p:spPr>
          <a:xfrm>
            <a:off x="32002" y="5667959"/>
            <a:ext cx="143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成果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260AEE-1D9B-CCA2-9345-13959EF8E3AA}"/>
              </a:ext>
            </a:extLst>
          </p:cNvPr>
          <p:cNvSpPr txBox="1"/>
          <p:nvPr/>
        </p:nvSpPr>
        <p:spPr>
          <a:xfrm>
            <a:off x="32002" y="6840636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總結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CB951A-D3BA-E788-2D5B-E8C6C4F05869}"/>
              </a:ext>
            </a:extLst>
          </p:cNvPr>
          <p:cNvSpPr txBox="1"/>
          <p:nvPr/>
        </p:nvSpPr>
        <p:spPr>
          <a:xfrm>
            <a:off x="582204" y="2744913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78405F7-08C6-C46F-78BA-31C131880FE3}"/>
              </a:ext>
            </a:extLst>
          </p:cNvPr>
          <p:cNvSpPr txBox="1"/>
          <p:nvPr/>
        </p:nvSpPr>
        <p:spPr>
          <a:xfrm>
            <a:off x="582204" y="3886811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0B0B615-3E34-0C74-FF2A-565F74F6C843}"/>
              </a:ext>
            </a:extLst>
          </p:cNvPr>
          <p:cNvSpPr txBox="1"/>
          <p:nvPr/>
        </p:nvSpPr>
        <p:spPr>
          <a:xfrm>
            <a:off x="582204" y="5028709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DE99807-CD70-8946-9200-F38BF97B5FE7}"/>
              </a:ext>
            </a:extLst>
          </p:cNvPr>
          <p:cNvSpPr txBox="1"/>
          <p:nvPr/>
        </p:nvSpPr>
        <p:spPr>
          <a:xfrm>
            <a:off x="582204" y="6170607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89EDAA-3F96-966E-B5D1-D35782210DFE}"/>
              </a:ext>
            </a:extLst>
          </p:cNvPr>
          <p:cNvSpPr txBox="1"/>
          <p:nvPr/>
        </p:nvSpPr>
        <p:spPr>
          <a:xfrm>
            <a:off x="582204" y="7312502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DBC6F2D-B6BF-FF24-B5B8-1CB4BAAA85C8}"/>
              </a:ext>
            </a:extLst>
          </p:cNvPr>
          <p:cNvGrpSpPr/>
          <p:nvPr/>
        </p:nvGrpSpPr>
        <p:grpSpPr>
          <a:xfrm>
            <a:off x="3102432" y="270648"/>
            <a:ext cx="9526996" cy="629932"/>
            <a:chOff x="1771690" y="3458858"/>
            <a:chExt cx="12276506" cy="86334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27F22595-3F91-61B6-988E-21EB1DC16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1690" y="3466293"/>
              <a:ext cx="3076091" cy="855905"/>
            </a:xfrm>
            <a:prstGeom prst="rect">
              <a:avLst/>
            </a:prstGeom>
          </p:spPr>
        </p:pic>
        <p:pic>
          <p:nvPicPr>
            <p:cNvPr id="3" name="Image 1" descr="preencoded.png">
              <a:extLst>
                <a:ext uri="{FF2B5EF4-FFF2-40B4-BE49-F238E27FC236}">
                  <a16:creationId xmlns:a16="http://schemas.microsoft.com/office/drawing/2014/main" id="{DD5E10D8-7ACE-FC61-A342-7B545B3EE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38419" y="3466292"/>
              <a:ext cx="3076205" cy="855905"/>
            </a:xfrm>
            <a:prstGeom prst="rect">
              <a:avLst/>
            </a:prstGeom>
          </p:spPr>
        </p:pic>
        <p:pic>
          <p:nvPicPr>
            <p:cNvPr id="4" name="Image 2" descr="preencoded.png">
              <a:extLst>
                <a:ext uri="{FF2B5EF4-FFF2-40B4-BE49-F238E27FC236}">
                  <a16:creationId xmlns:a16="http://schemas.microsoft.com/office/drawing/2014/main" id="{CE82484C-D547-F27F-334C-EDBF58DE1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05261" y="3466292"/>
              <a:ext cx="3076092" cy="855905"/>
            </a:xfrm>
            <a:prstGeom prst="rect">
              <a:avLst/>
            </a:prstGeom>
          </p:spPr>
        </p:pic>
        <p:pic>
          <p:nvPicPr>
            <p:cNvPr id="5" name="Image 3" descr="preencoded.png">
              <a:extLst>
                <a:ext uri="{FF2B5EF4-FFF2-40B4-BE49-F238E27FC236}">
                  <a16:creationId xmlns:a16="http://schemas.microsoft.com/office/drawing/2014/main" id="{35EACA59-0689-0316-E1C7-F5D25DB2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971991" y="3458858"/>
              <a:ext cx="3076205" cy="855905"/>
            </a:xfrm>
            <a:prstGeom prst="rect">
              <a:avLst/>
            </a:prstGeom>
          </p:spPr>
        </p:pic>
      </p:grpSp>
      <p:sp>
        <p:nvSpPr>
          <p:cNvPr id="7" name="Shape 1">
            <a:extLst>
              <a:ext uri="{FF2B5EF4-FFF2-40B4-BE49-F238E27FC236}">
                <a16:creationId xmlns:a16="http://schemas.microsoft.com/office/drawing/2014/main" id="{FD927185-1A56-452C-52E2-1E4D7E6B83E6}"/>
              </a:ext>
            </a:extLst>
          </p:cNvPr>
          <p:cNvSpPr/>
          <p:nvPr/>
        </p:nvSpPr>
        <p:spPr>
          <a:xfrm>
            <a:off x="8117216" y="3264953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+mn-ea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EA427F1-07A1-E83A-7745-DC5F23088D08}"/>
              </a:ext>
            </a:extLst>
          </p:cNvPr>
          <p:cNvSpPr/>
          <p:nvPr/>
        </p:nvSpPr>
        <p:spPr>
          <a:xfrm>
            <a:off x="8301167" y="3411945"/>
            <a:ext cx="14228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1</a:t>
            </a:r>
            <a:endParaRPr lang="en-US" sz="3200" dirty="0">
              <a:latin typeface="+mn-ea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0AD7F4D-C3E9-EBF0-648C-F4B8C788A424}"/>
              </a:ext>
            </a:extLst>
          </p:cNvPr>
          <p:cNvSpPr/>
          <p:nvPr/>
        </p:nvSpPr>
        <p:spPr>
          <a:xfrm>
            <a:off x="8854634" y="34427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zh-TW" alt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靈活版面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6C0428F-0C3F-7726-EDC5-5B62D6B68A25}"/>
              </a:ext>
            </a:extLst>
          </p:cNvPr>
          <p:cNvSpPr/>
          <p:nvPr/>
        </p:nvSpPr>
        <p:spPr>
          <a:xfrm>
            <a:off x="8854635" y="4023852"/>
            <a:ext cx="40531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zh-TW" altLang="en-US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使用者可自由調整題目及編輯器位置</a:t>
            </a:r>
            <a:endParaRPr lang="en-US" sz="2400" dirty="0">
              <a:latin typeface="+mn-ea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E27C05F-D676-240D-E381-2D5A2317A9B7}"/>
              </a:ext>
            </a:extLst>
          </p:cNvPr>
          <p:cNvSpPr/>
          <p:nvPr/>
        </p:nvSpPr>
        <p:spPr>
          <a:xfrm>
            <a:off x="8117216" y="4690964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zh-TW" altLang="en-US" sz="2400">
              <a:latin typeface="+mn-ea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E409D98-300A-4896-F334-EBC1693CA665}"/>
              </a:ext>
            </a:extLst>
          </p:cNvPr>
          <p:cNvSpPr/>
          <p:nvPr/>
        </p:nvSpPr>
        <p:spPr>
          <a:xfrm>
            <a:off x="8268901" y="4840679"/>
            <a:ext cx="2069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2</a:t>
            </a:r>
            <a:endParaRPr lang="en-US" sz="3200" dirty="0">
              <a:latin typeface="+mn-ea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16DA76B-A27C-2DC6-E5C3-06F1C91AA2D2}"/>
              </a:ext>
            </a:extLst>
          </p:cNvPr>
          <p:cNvSpPr/>
          <p:nvPr/>
        </p:nvSpPr>
        <p:spPr>
          <a:xfrm>
            <a:off x="8854634" y="48687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zh-TW" altLang="en-US" sz="3200" b="1" dirty="0">
                <a:solidFill>
                  <a:srgbClr val="151617"/>
                </a:solidFill>
                <a:latin typeface="+mn-ea"/>
                <a:cs typeface="Montserrat Black" pitchFamily="34" charset="-120"/>
              </a:rPr>
              <a:t>多語言選擇</a:t>
            </a:r>
            <a:endParaRPr lang="en-US" sz="3200" dirty="0">
              <a:latin typeface="+mn-ea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25DEEE5-9BB5-2E6A-01C1-04093FE61A95}"/>
              </a:ext>
            </a:extLst>
          </p:cNvPr>
          <p:cNvSpPr/>
          <p:nvPr/>
        </p:nvSpPr>
        <p:spPr>
          <a:xfrm>
            <a:off x="8854635" y="5449864"/>
            <a:ext cx="40531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zh-TW" altLang="en-US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支援</a:t>
            </a:r>
            <a:r>
              <a:rPr lang="en-US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C、C++、Python</a:t>
            </a:r>
            <a:r>
              <a:rPr lang="zh-TW" altLang="en-US" sz="2400" dirty="0">
                <a:solidFill>
                  <a:srgbClr val="151617"/>
                </a:solidFill>
                <a:latin typeface="+mn-ea"/>
                <a:cs typeface="Inconsolata" pitchFamily="34" charset="-120"/>
              </a:rPr>
              <a:t>等程式語言</a:t>
            </a:r>
          </a:p>
          <a:p>
            <a:pPr marL="0" indent="0">
              <a:lnSpc>
                <a:spcPts val="2850"/>
              </a:lnSpc>
              <a:buNone/>
            </a:pPr>
            <a:endParaRPr lang="en-US" sz="2400" dirty="0">
              <a:latin typeface="+mn-ea"/>
            </a:endParaRPr>
          </a:p>
        </p:txBody>
      </p:sp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825261FB-52CB-AA6B-E2D3-810D90EB46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9524" y="1788511"/>
            <a:ext cx="5607249" cy="265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28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FDF7F2B-A7E3-8729-7741-38A916F74811}"/>
              </a:ext>
            </a:extLst>
          </p:cNvPr>
          <p:cNvSpPr/>
          <p:nvPr/>
        </p:nvSpPr>
        <p:spPr>
          <a:xfrm>
            <a:off x="0" y="0"/>
            <a:ext cx="1524000" cy="822960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3327FA2-CCAB-2EDE-BD39-F2B7E1DAA368}"/>
              </a:ext>
            </a:extLst>
          </p:cNvPr>
          <p:cNvSpPr txBox="1"/>
          <p:nvPr/>
        </p:nvSpPr>
        <p:spPr>
          <a:xfrm>
            <a:off x="582204" y="1603015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B173881F-2A44-7E4E-A331-4CADDFA6C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36" y="318632"/>
            <a:ext cx="1190632" cy="128438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B85076-5D7C-9164-DC78-36354FE3E0A8}"/>
              </a:ext>
            </a:extLst>
          </p:cNvPr>
          <p:cNvSpPr txBox="1"/>
          <p:nvPr/>
        </p:nvSpPr>
        <p:spPr>
          <a:xfrm>
            <a:off x="32002" y="2273044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目的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583CCE4-BA72-6BD6-0370-A78198241675}"/>
              </a:ext>
            </a:extLst>
          </p:cNvPr>
          <p:cNvSpPr txBox="1"/>
          <p:nvPr/>
        </p:nvSpPr>
        <p:spPr>
          <a:xfrm>
            <a:off x="32002" y="3414942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架構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0D8FC18-803E-FDBA-6E42-A0C86DF75936}"/>
              </a:ext>
            </a:extLst>
          </p:cNvPr>
          <p:cNvSpPr txBox="1"/>
          <p:nvPr/>
        </p:nvSpPr>
        <p:spPr>
          <a:xfrm>
            <a:off x="32002" y="4556840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機制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EE9ADA4-8095-CBFC-BF9D-D11963D57341}"/>
              </a:ext>
            </a:extLst>
          </p:cNvPr>
          <p:cNvSpPr txBox="1"/>
          <p:nvPr/>
        </p:nvSpPr>
        <p:spPr>
          <a:xfrm>
            <a:off x="32002" y="5698738"/>
            <a:ext cx="143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2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成果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260AEE-1D9B-CCA2-9345-13959EF8E3AA}"/>
              </a:ext>
            </a:extLst>
          </p:cNvPr>
          <p:cNvSpPr txBox="1"/>
          <p:nvPr/>
        </p:nvSpPr>
        <p:spPr>
          <a:xfrm>
            <a:off x="23404" y="6792493"/>
            <a:ext cx="143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Walbaum Display Heavy" panose="020F0502020204030204" pitchFamily="18" charset="0"/>
                <a:ea typeface="微軟正黑體" panose="020B0604030504040204" pitchFamily="34" charset="-120"/>
                <a:cs typeface="Montserrat Black" pitchFamily="34" charset="-120"/>
              </a:rPr>
              <a:t>總結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CB951A-D3BA-E788-2D5B-E8C6C4F05869}"/>
              </a:ext>
            </a:extLst>
          </p:cNvPr>
          <p:cNvSpPr txBox="1"/>
          <p:nvPr/>
        </p:nvSpPr>
        <p:spPr>
          <a:xfrm>
            <a:off x="582204" y="2744913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78405F7-08C6-C46F-78BA-31C131880FE3}"/>
              </a:ext>
            </a:extLst>
          </p:cNvPr>
          <p:cNvSpPr txBox="1"/>
          <p:nvPr/>
        </p:nvSpPr>
        <p:spPr>
          <a:xfrm>
            <a:off x="582204" y="3886811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0B0B615-3E34-0C74-FF2A-565F74F6C843}"/>
              </a:ext>
            </a:extLst>
          </p:cNvPr>
          <p:cNvSpPr txBox="1"/>
          <p:nvPr/>
        </p:nvSpPr>
        <p:spPr>
          <a:xfrm>
            <a:off x="582204" y="5028709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DE99807-CD70-8946-9200-F38BF97B5FE7}"/>
              </a:ext>
            </a:extLst>
          </p:cNvPr>
          <p:cNvSpPr txBox="1"/>
          <p:nvPr/>
        </p:nvSpPr>
        <p:spPr>
          <a:xfrm>
            <a:off x="582204" y="6170607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89EDAA-3F96-966E-B5D1-D35782210DFE}"/>
              </a:ext>
            </a:extLst>
          </p:cNvPr>
          <p:cNvSpPr txBox="1"/>
          <p:nvPr/>
        </p:nvSpPr>
        <p:spPr>
          <a:xfrm>
            <a:off x="582204" y="7312502"/>
            <a:ext cx="461665" cy="7213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Amasis MT Pro Black" panose="020F0502020204030204" pitchFamily="18" charset="0"/>
                <a:ea typeface="微軟正黑體" panose="020B0604030504040204" pitchFamily="34" charset="-120"/>
              </a:rPr>
              <a:t>……</a:t>
            </a:r>
            <a:endParaRPr lang="zh-TW" altLang="en-US" dirty="0">
              <a:solidFill>
                <a:schemeClr val="bg2">
                  <a:lumMod val="75000"/>
                </a:schemeClr>
              </a:solidFill>
              <a:latin typeface="Amasis MT Pro Black" panose="020F0502020204030204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3D2D43EF-8066-11A1-E10C-E0B2B01986F2}"/>
              </a:ext>
            </a:extLst>
          </p:cNvPr>
          <p:cNvGrpSpPr/>
          <p:nvPr/>
        </p:nvGrpSpPr>
        <p:grpSpPr>
          <a:xfrm>
            <a:off x="2608898" y="2176125"/>
            <a:ext cx="510302" cy="510302"/>
            <a:chOff x="2987099" y="2297637"/>
            <a:chExt cx="510302" cy="510302"/>
          </a:xfrm>
        </p:grpSpPr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3D5218E7-0D34-A175-90C7-B026893EDC32}"/>
                </a:ext>
              </a:extLst>
            </p:cNvPr>
            <p:cNvSpPr/>
            <p:nvPr/>
          </p:nvSpPr>
          <p:spPr>
            <a:xfrm>
              <a:off x="2987099" y="2297637"/>
              <a:ext cx="510302" cy="510302"/>
            </a:xfrm>
            <a:prstGeom prst="roundRect">
              <a:avLst>
                <a:gd name="adj" fmla="val 1792"/>
              </a:avLst>
            </a:prstGeom>
            <a:solidFill>
              <a:srgbClr val="F8ECE4"/>
            </a:solidFill>
            <a:ln w="7620">
              <a:solidFill>
                <a:srgbClr val="151617"/>
              </a:solidFill>
              <a:prstDash val="solid"/>
            </a:ln>
            <a:effectLst>
              <a:outerShdw dist="20320" dir="2700000" algn="bl" rotWithShape="0">
                <a:srgbClr val="151617">
                  <a:alpha val="10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77BCA380-BD10-6F97-E9B1-7CC2F1F4548B}"/>
                </a:ext>
              </a:extLst>
            </p:cNvPr>
            <p:cNvSpPr/>
            <p:nvPr/>
          </p:nvSpPr>
          <p:spPr>
            <a:xfrm>
              <a:off x="3171050" y="2382647"/>
              <a:ext cx="142280" cy="34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1</a:t>
              </a:r>
              <a:endParaRPr lang="en-US" sz="2650" dirty="0"/>
            </a:p>
          </p:txBody>
        </p:sp>
      </p:grpSp>
      <p:sp>
        <p:nvSpPr>
          <p:cNvPr id="4" name="Text 3">
            <a:extLst>
              <a:ext uri="{FF2B5EF4-FFF2-40B4-BE49-F238E27FC236}">
                <a16:creationId xmlns:a16="http://schemas.microsoft.com/office/drawing/2014/main" id="{195FB456-E4AB-F95D-F4C8-50A386D1B536}"/>
              </a:ext>
            </a:extLst>
          </p:cNvPr>
          <p:cNvSpPr/>
          <p:nvPr/>
        </p:nvSpPr>
        <p:spPr>
          <a:xfrm>
            <a:off x="3346669" y="2346266"/>
            <a:ext cx="3917502" cy="1104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j-ea"/>
                <a:ea typeface="+mj-ea"/>
                <a:cs typeface="Montserrat Black" pitchFamily="34" charset="-120"/>
              </a:rPr>
              <a:t>遊戲化學習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D97A437-F8B7-F71F-0549-7EBB62C6CD0B}"/>
              </a:ext>
            </a:extLst>
          </p:cNvPr>
          <p:cNvSpPr/>
          <p:nvPr/>
        </p:nvSpPr>
        <p:spPr>
          <a:xfrm>
            <a:off x="3346669" y="2836684"/>
            <a:ext cx="4779705" cy="1131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+mj-ea"/>
                <a:ea typeface="+mj-ea"/>
                <a:cs typeface="Inconsolata" pitchFamily="34" charset="-120"/>
              </a:rPr>
              <a:t>結合大富翁概念提升程式練習效果</a:t>
            </a:r>
            <a:endParaRPr lang="en-US" sz="2400" dirty="0">
              <a:latin typeface="+mj-ea"/>
              <a:ea typeface="+mj-ea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AA479B65-2709-C336-AB73-E4566BE00952}"/>
              </a:ext>
            </a:extLst>
          </p:cNvPr>
          <p:cNvGrpSpPr/>
          <p:nvPr/>
        </p:nvGrpSpPr>
        <p:grpSpPr>
          <a:xfrm>
            <a:off x="2609554" y="3774671"/>
            <a:ext cx="510302" cy="510302"/>
            <a:chOff x="2987099" y="3806585"/>
            <a:chExt cx="510302" cy="510302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0BE0EC02-2F05-000A-B2F2-F1E8234E3C0C}"/>
                </a:ext>
              </a:extLst>
            </p:cNvPr>
            <p:cNvSpPr/>
            <p:nvPr/>
          </p:nvSpPr>
          <p:spPr>
            <a:xfrm>
              <a:off x="2987099" y="3806585"/>
              <a:ext cx="510302" cy="510302"/>
            </a:xfrm>
            <a:prstGeom prst="roundRect">
              <a:avLst>
                <a:gd name="adj" fmla="val 1792"/>
              </a:avLst>
            </a:prstGeom>
            <a:solidFill>
              <a:srgbClr val="F8ECE4"/>
            </a:solidFill>
            <a:ln w="7620">
              <a:solidFill>
                <a:srgbClr val="151617"/>
              </a:solidFill>
              <a:prstDash val="solid"/>
            </a:ln>
            <a:effectLst>
              <a:outerShdw dist="20320" dir="2700000" algn="bl" rotWithShape="0">
                <a:srgbClr val="151617">
                  <a:alpha val="10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666A69CA-56BA-22C2-6CC5-A96AE0D205DA}"/>
                </a:ext>
              </a:extLst>
            </p:cNvPr>
            <p:cNvSpPr/>
            <p:nvPr/>
          </p:nvSpPr>
          <p:spPr>
            <a:xfrm>
              <a:off x="3138784" y="3891595"/>
              <a:ext cx="206931" cy="34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2</a:t>
              </a:r>
              <a:endParaRPr lang="en-US" sz="2650" dirty="0"/>
            </a:p>
          </p:txBody>
        </p:sp>
      </p:grpSp>
      <p:sp>
        <p:nvSpPr>
          <p:cNvPr id="8" name="Text 7">
            <a:extLst>
              <a:ext uri="{FF2B5EF4-FFF2-40B4-BE49-F238E27FC236}">
                <a16:creationId xmlns:a16="http://schemas.microsoft.com/office/drawing/2014/main" id="{0D55BED9-2A93-AA59-C7B0-B1CDBB3041D3}"/>
              </a:ext>
            </a:extLst>
          </p:cNvPr>
          <p:cNvSpPr/>
          <p:nvPr/>
        </p:nvSpPr>
        <p:spPr>
          <a:xfrm>
            <a:off x="3346669" y="3855214"/>
            <a:ext cx="3917502" cy="1104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j-ea"/>
                <a:ea typeface="+mj-ea"/>
                <a:cs typeface="Montserrat Black" pitchFamily="34" charset="-120"/>
              </a:rPr>
              <a:t>靈活互動平台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6B27C66-9132-EEEB-0A3B-5B16AC8FB372}"/>
              </a:ext>
            </a:extLst>
          </p:cNvPr>
          <p:cNvSpPr/>
          <p:nvPr/>
        </p:nvSpPr>
        <p:spPr>
          <a:xfrm>
            <a:off x="3346669" y="4345632"/>
            <a:ext cx="4779705" cy="1131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+mj-ea"/>
                <a:ea typeface="+mj-ea"/>
                <a:cs typeface="Inconsolata" pitchFamily="34" charset="-120"/>
              </a:rPr>
              <a:t>使用者可選語言、調整界面佈局</a:t>
            </a:r>
            <a:endParaRPr lang="en-US" sz="2400" dirty="0">
              <a:latin typeface="+mj-ea"/>
              <a:ea typeface="+mj-ea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2C0563B1-E114-7647-01A3-A318CDC82812}"/>
              </a:ext>
            </a:extLst>
          </p:cNvPr>
          <p:cNvGrpSpPr/>
          <p:nvPr/>
        </p:nvGrpSpPr>
        <p:grpSpPr>
          <a:xfrm>
            <a:off x="2609554" y="5321333"/>
            <a:ext cx="510302" cy="510302"/>
            <a:chOff x="2987099" y="5368105"/>
            <a:chExt cx="510302" cy="510302"/>
          </a:xfrm>
        </p:grpSpPr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6037686D-BF15-427B-3CA8-316756EADB68}"/>
                </a:ext>
              </a:extLst>
            </p:cNvPr>
            <p:cNvSpPr/>
            <p:nvPr/>
          </p:nvSpPr>
          <p:spPr>
            <a:xfrm>
              <a:off x="2987099" y="5368105"/>
              <a:ext cx="510302" cy="510302"/>
            </a:xfrm>
            <a:prstGeom prst="roundRect">
              <a:avLst>
                <a:gd name="adj" fmla="val 1792"/>
              </a:avLst>
            </a:prstGeom>
            <a:solidFill>
              <a:srgbClr val="F8ECE4"/>
            </a:solidFill>
            <a:ln w="7620">
              <a:solidFill>
                <a:srgbClr val="151617"/>
              </a:solidFill>
              <a:prstDash val="solid"/>
            </a:ln>
            <a:effectLst>
              <a:outerShdw dist="20320" dir="2700000" algn="bl" rotWithShape="0">
                <a:srgbClr val="151617">
                  <a:alpha val="10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4DA3BB6E-85A7-B9A2-2F7F-CFACF5BA57DE}"/>
                </a:ext>
              </a:extLst>
            </p:cNvPr>
            <p:cNvSpPr/>
            <p:nvPr/>
          </p:nvSpPr>
          <p:spPr>
            <a:xfrm>
              <a:off x="3137714" y="5453115"/>
              <a:ext cx="208955" cy="34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3</a:t>
              </a:r>
              <a:endParaRPr lang="en-US" sz="265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68DA886C-1D46-6BDD-BB45-21B9ECE7507D}"/>
              </a:ext>
            </a:extLst>
          </p:cNvPr>
          <p:cNvSpPr/>
          <p:nvPr/>
        </p:nvSpPr>
        <p:spPr>
          <a:xfrm>
            <a:off x="3346669" y="5416734"/>
            <a:ext cx="3917502" cy="1104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+mj-ea"/>
                <a:ea typeface="+mj-ea"/>
                <a:cs typeface="Montserrat Black" pitchFamily="34" charset="-120"/>
              </a:rPr>
              <a:t>創新學習體驗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CE96C7C-2A7E-D4BD-A8CB-AF6DF8F4EFEA}"/>
              </a:ext>
            </a:extLst>
          </p:cNvPr>
          <p:cNvSpPr/>
          <p:nvPr/>
        </p:nvSpPr>
        <p:spPr>
          <a:xfrm>
            <a:off x="3346669" y="5907152"/>
            <a:ext cx="4779705" cy="1131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+mj-ea"/>
                <a:ea typeface="+mj-ea"/>
                <a:cs typeface="Inconsolata" pitchFamily="34" charset="-120"/>
              </a:rPr>
              <a:t>激發學習者的學習熱情</a:t>
            </a:r>
            <a:endParaRPr lang="en-US" sz="2400" dirty="0">
              <a:latin typeface="+mj-ea"/>
              <a:ea typeface="+mj-ea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3B8F054-26B1-EAE5-11DD-C85F8B244BA2}"/>
              </a:ext>
            </a:extLst>
          </p:cNvPr>
          <p:cNvGrpSpPr/>
          <p:nvPr/>
        </p:nvGrpSpPr>
        <p:grpSpPr>
          <a:xfrm>
            <a:off x="9806803" y="2382884"/>
            <a:ext cx="3320699" cy="3373409"/>
            <a:chOff x="9949043" y="2744913"/>
            <a:chExt cx="3320699" cy="3373409"/>
          </a:xfrm>
        </p:grpSpPr>
        <p:pic>
          <p:nvPicPr>
            <p:cNvPr id="19" name="圖形 18">
              <a:extLst>
                <a:ext uri="{FF2B5EF4-FFF2-40B4-BE49-F238E27FC236}">
                  <a16:creationId xmlns:a16="http://schemas.microsoft.com/office/drawing/2014/main" id="{915C97D0-5368-1142-5C30-C8C0A59E2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49043" y="2744913"/>
              <a:ext cx="3320699" cy="3373409"/>
            </a:xfrm>
            <a:prstGeom prst="rect">
              <a:avLst/>
            </a:prstGeom>
          </p:spPr>
        </p:pic>
        <p:pic>
          <p:nvPicPr>
            <p:cNvPr id="21" name="圖形 20">
              <a:extLst>
                <a:ext uri="{FF2B5EF4-FFF2-40B4-BE49-F238E27FC236}">
                  <a16:creationId xmlns:a16="http://schemas.microsoft.com/office/drawing/2014/main" id="{E40DB9AC-379D-F2E1-A36F-7F8DE5348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19313" y="4535542"/>
              <a:ext cx="544665" cy="7379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53877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常用">
      <a:majorFont>
        <a:latin typeface="Calibri Light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344</Words>
  <Application>Microsoft Office PowerPoint</Application>
  <PresentationFormat>自訂</PresentationFormat>
  <Paragraphs>182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Aptos Black</vt:lpstr>
      <vt:lpstr>微軟正黑體</vt:lpstr>
      <vt:lpstr>Arial</vt:lpstr>
      <vt:lpstr>Amasis MT Pro Black</vt:lpstr>
      <vt:lpstr>Walbaum Display Heavy</vt:lpstr>
      <vt:lpstr>Montserrat Black</vt:lpstr>
      <vt:lpstr>Segoe UI Black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林莅紋</cp:lastModifiedBy>
  <cp:revision>5</cp:revision>
  <dcterms:created xsi:type="dcterms:W3CDTF">2024-12-08T15:52:46Z</dcterms:created>
  <dcterms:modified xsi:type="dcterms:W3CDTF">2024-12-09T07:42:00Z</dcterms:modified>
</cp:coreProperties>
</file>